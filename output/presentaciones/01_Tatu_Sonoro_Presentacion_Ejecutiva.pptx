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705d4ea694897" /><Relationship Type="http://schemas.openxmlformats.org/officeDocument/2006/relationships/extended-properties" Target="/docProps/app.xml" Id="Rb78433ed59594a28" /><Relationship Type="http://schemas.openxmlformats.org/officeDocument/2006/relationships/officeDocument" Target="/ppt/presentation.xml" Id="R9d34958e885b48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bda9bf19349f8"/>
  </p:sldMasterIdLst>
  <p:notesMasterIdLst>
    <p:notesMasterId xmlns:r="http://schemas.openxmlformats.org/officeDocument/2006/relationships" r:id="Rdeb80a5a00e946c3"/>
  </p:notesMasterIdLst>
  <p:sldIdLst>
    <p:sldId xmlns:r="http://schemas.openxmlformats.org/officeDocument/2006/relationships" id="256" r:id="Recaab2a51aa94c6a"/>
    <p:sldId xmlns:r="http://schemas.openxmlformats.org/officeDocument/2006/relationships" id="257" r:id="R69d6cbb6693a498f"/>
    <p:sldId xmlns:r="http://schemas.openxmlformats.org/officeDocument/2006/relationships" id="258" r:id="R59e86b92e15943de"/>
    <p:sldId xmlns:r="http://schemas.openxmlformats.org/officeDocument/2006/relationships" id="259" r:id="Re6f83565b5ef4144"/>
    <p:sldId xmlns:r="http://schemas.openxmlformats.org/officeDocument/2006/relationships" id="260" r:id="R43c42da502ad4a95"/>
    <p:sldId xmlns:r="http://schemas.openxmlformats.org/officeDocument/2006/relationships" id="261" r:id="R0321055f40d54210"/>
    <p:sldId xmlns:r="http://schemas.openxmlformats.org/officeDocument/2006/relationships" id="262" r:id="Rdb4ea539df404440"/>
    <p:sldId xmlns:r="http://schemas.openxmlformats.org/officeDocument/2006/relationships" id="263" r:id="R8bc8b7c57f9a46e6"/>
    <p:sldId xmlns:r="http://schemas.openxmlformats.org/officeDocument/2006/relationships" id="264" r:id="Rbf434e690b99408f"/>
    <p:sldId xmlns:r="http://schemas.openxmlformats.org/officeDocument/2006/relationships" id="265" r:id="Rf3ecf7f4d89f4a83"/>
    <p:sldId xmlns:r="http://schemas.openxmlformats.org/officeDocument/2006/relationships" id="266" r:id="R0a8cc52c9dac438c"/>
    <p:sldId xmlns:r="http://schemas.openxmlformats.org/officeDocument/2006/relationships" id="267" r:id="Rf9e5bb5c399f46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5f13b30e4646d2" /><Relationship Type="http://schemas.openxmlformats.org/officeDocument/2006/relationships/slideMaster" Target="/ppt/slideMasters/slideMaster1.xml" Id="R883bda9bf19349f8" /><Relationship Type="http://schemas.openxmlformats.org/officeDocument/2006/relationships/notesMaster" Target="/ppt/notesMasters/notesMaster1.xml" Id="Rdeb80a5a00e946c3" /><Relationship Type="http://schemas.openxmlformats.org/officeDocument/2006/relationships/presProps" Target="/ppt/presProps.xml" Id="R8dd305cc4bc14866" /><Relationship Type="http://schemas.openxmlformats.org/officeDocument/2006/relationships/tableStyles" Target="/ppt/tableStyles.xml" Id="R420febd2d6364e38" /><Relationship Type="http://schemas.openxmlformats.org/officeDocument/2006/relationships/slide" Target="/ppt/slides/slide1.xml" Id="Recaab2a51aa94c6a" /><Relationship Type="http://schemas.openxmlformats.org/officeDocument/2006/relationships/slide" Target="/ppt/slides/slide2.xml" Id="R69d6cbb6693a498f" /><Relationship Type="http://schemas.openxmlformats.org/officeDocument/2006/relationships/slide" Target="/ppt/slides/slide3.xml" Id="R59e86b92e15943de" /><Relationship Type="http://schemas.openxmlformats.org/officeDocument/2006/relationships/slide" Target="/ppt/slides/slide4.xml" Id="Re6f83565b5ef4144" /><Relationship Type="http://schemas.openxmlformats.org/officeDocument/2006/relationships/slide" Target="/ppt/slides/slide5.xml" Id="R43c42da502ad4a95" /><Relationship Type="http://schemas.openxmlformats.org/officeDocument/2006/relationships/slide" Target="/ppt/slides/slide6.xml" Id="R0321055f40d54210" /><Relationship Type="http://schemas.openxmlformats.org/officeDocument/2006/relationships/slide" Target="/ppt/slides/slide7.xml" Id="Rdb4ea539df404440" /><Relationship Type="http://schemas.openxmlformats.org/officeDocument/2006/relationships/slide" Target="/ppt/slides/slide8.xml" Id="R8bc8b7c57f9a46e6" /><Relationship Type="http://schemas.openxmlformats.org/officeDocument/2006/relationships/slide" Target="/ppt/slides/slide9.xml" Id="Rbf434e690b99408f" /><Relationship Type="http://schemas.openxmlformats.org/officeDocument/2006/relationships/slide" Target="/ppt/slides/slide10.xml" Id="Rf3ecf7f4d89f4a83" /><Relationship Type="http://schemas.openxmlformats.org/officeDocument/2006/relationships/slide" Target="/ppt/slides/slide11.xml" Id="R0a8cc52c9dac438c" /><Relationship Type="http://schemas.openxmlformats.org/officeDocument/2006/relationships/slide" Target="/ppt/slides/slide12.xml" Id="Rf9e5bb5c399f46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6fa454593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f4f707d49a42ef" /><Relationship Type="http://schemas.openxmlformats.org/officeDocument/2006/relationships/notesMaster" Target="/ppt/notesMasters/notesMaster1.xml" Id="R59242555098942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2000ff8a442af" /><Relationship Type="http://schemas.openxmlformats.org/officeDocument/2006/relationships/notesMaster" Target="/ppt/notesMasters/notesMaster1.xml" Id="Re845e0db05064c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51396cedbf40e4" /><Relationship Type="http://schemas.openxmlformats.org/officeDocument/2006/relationships/notesMaster" Target="/ppt/notesMasters/notesMaster1.xml" Id="R6ac822c9309849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440e4ad3c44df" /><Relationship Type="http://schemas.openxmlformats.org/officeDocument/2006/relationships/notesMaster" Target="/ppt/notesMasters/notesMaster1.xml" Id="R7e0955dcf90b47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5b1f2655ae40d5" /><Relationship Type="http://schemas.openxmlformats.org/officeDocument/2006/relationships/notesMaster" Target="/ppt/notesMasters/notesMaster1.xml" Id="R09e75da4d59f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761d6af1a4c2c" /><Relationship Type="http://schemas.openxmlformats.org/officeDocument/2006/relationships/notesMaster" Target="/ppt/notesMasters/notesMaster1.xml" Id="Rf36b39d6c0f3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651863ba54479" /><Relationship Type="http://schemas.openxmlformats.org/officeDocument/2006/relationships/notesMaster" Target="/ppt/notesMasters/notesMaster1.xml" Id="R4c5c1ae494f249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19f71e602f429b" /><Relationship Type="http://schemas.openxmlformats.org/officeDocument/2006/relationships/notesMaster" Target="/ppt/notesMasters/notesMaster1.xml" Id="R1f1342d603be46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4742b61f24fbd" /><Relationship Type="http://schemas.openxmlformats.org/officeDocument/2006/relationships/notesMaster" Target="/ppt/notesMasters/notesMaster1.xml" Id="R7649837b73154e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de6a86a1584c18" /><Relationship Type="http://schemas.openxmlformats.org/officeDocument/2006/relationships/notesMaster" Target="/ppt/notesMasters/notesMaster1.xml" Id="R233a501c5d7543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507968dbfa4bd6" /><Relationship Type="http://schemas.openxmlformats.org/officeDocument/2006/relationships/notesMaster" Target="/ppt/notesMasters/notesMaster1.xml" Id="Rc51e080ef98d43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3e257549246f1" /><Relationship Type="http://schemas.openxmlformats.org/officeDocument/2006/relationships/notesMaster" Target="/ppt/notesMasters/notesMaster1.xml" Id="R8e00ba280ccf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criatura y el propósito, no con el chasis.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/Users/martinmarquez/projects/chakana-art-car/output/visuals/09_tatu_hero_presentacion.png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https://burningman.org/black-rock-city/bring-your-mutant-vehicle/mv-criteria-and-licensing/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- https://www.afrikaburn.org/event/participation/mutant-vehicles/</a:t>
            </a:r>
          </a:p>
          <a:p xmlns:a="http://schemas.openxmlformats.org/drawingml/2006/main">
            <a:r>
              <a:t>- https://www.goingnowhere.org/participate/artomobiles/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/Users/martinmarquez/projects/chakana-art-car/output/visuals/01_tatu_sonoro.png</a:t>
            </a:r>
          </a:p>
          <a:p xmlns:a="http://schemas.openxmlformats.org/drawingml/2006/main">
            <a:r>
              <a:t>- /Users/martinmarquez/projects/chakana-art-car/output/visuals/02_chakana_resonante.png</a:t>
            </a:r>
          </a:p>
          <a:p xmlns:a="http://schemas.openxmlformats.org/drawingml/2006/main">
            <a:r>
              <a:t>- /Users/martinmarquez/projects/chakana-art-car/output/visuals/03_coati_nocturno.png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/Users/martinmarquez/projects/chakana-art-car/output/visuals/10_cabina_dj_presentacion.png</a:t>
            </a:r>
          </a:p>
          <a:p xmlns:a="http://schemas.openxmlformats.org/drawingml/2006/main">
            <a:r>
              <a:t>- https://www.afrikaburn.org/afrikaburn-sound-policy/</a:t>
            </a:r>
          </a:p>
          <a:p xmlns:a="http://schemas.openxmlformats.org/drawingml/2006/main">
            <a:r>
              <a:t>- https://www.who.int/publications/i/item/9789240043114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/Users/martinmarquez/projects/chakana-art-car/output/visuals/11_cutaway_presentacion.png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- https://www.argentina.gob.ar/normativa/nacional/norma-407914</a:t>
            </a:r>
          </a:p>
          <a:p xmlns:a="http://schemas.openxmlformats.org/drawingml/2006/main">
            <a:r>
              <a:t>- https://www.argentina.gob.ar/node/196822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https://www.alibaba.com/product-detail/Four-Wheel-Unmanned-Autonomous-Wire-Control_1601605765591.html</a:t>
            </a:r>
          </a:p>
          <a:p xmlns:a="http://schemas.openxmlformats.org/drawingml/2006/main">
            <a:r>
              <a:t>- https://www.alibaba.com/product-detail/OEM-Custom-Remote-Controlled-Rubber-Track_1601864041467.html</a:t>
            </a:r>
          </a:p>
          <a:p xmlns:a="http://schemas.openxmlformats.org/drawingml/2006/main">
            <a:r>
              <a:t>- https://www.alibaba.com/product-detail/100CM-2000W-Shift-Differential-Rear-Axle_1601869479511.html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59e66934f46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29ffbd3b6480d" /><Relationship Type="http://schemas.openxmlformats.org/officeDocument/2006/relationships/slideLayout" Target="/ppt/slideLayouts/slideLayout1.xml" Id="R0874a08f132e46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4a08f132e46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cdc043024c71" /><Relationship Type="http://schemas.openxmlformats.org/officeDocument/2006/relationships/image" Target="/ppt/media/image.png" Id="R5a17d304137f4d76" /><Relationship Type="http://schemas.openxmlformats.org/officeDocument/2006/relationships/notesSlide" Target="/ppt/notesSlides/notesSlide1.xml" Id="R8e1c934dd940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3db3e62a841d4" /><Relationship Type="http://schemas.openxmlformats.org/officeDocument/2006/relationships/notesSlide" Target="/ppt/notesSlides/notesSlide2.xml" Id="Rbc0de207a58d48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57fcee18426f" /><Relationship Type="http://schemas.openxmlformats.org/officeDocument/2006/relationships/notesSlide" Target="/ppt/notesSlides/notesSlide3.xml" Id="R7a928bdcfcc0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9dc3f0aea4864" /><Relationship Type="http://schemas.openxmlformats.org/officeDocument/2006/relationships/image" Target="/ppt/media/image2.png" Id="Rd6a654592dbd4e64" /><Relationship Type="http://schemas.openxmlformats.org/officeDocument/2006/relationships/image" Target="/ppt/media/image3.png" Id="R98eb1982e49c42e9" /><Relationship Type="http://schemas.openxmlformats.org/officeDocument/2006/relationships/image" Target="/ppt/media/image4.png" Id="R69fba180306f4630" /><Relationship Type="http://schemas.openxmlformats.org/officeDocument/2006/relationships/notesSlide" Target="/ppt/notesSlides/notesSlide4.xml" Id="R86e2c32bb1a7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ffd9780854ad5" /><Relationship Type="http://schemas.openxmlformats.org/officeDocument/2006/relationships/notesSlide" Target="/ppt/notesSlides/notesSlide5.xml" Id="R2191815513f443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0d8be68fd4f93" /><Relationship Type="http://schemas.openxmlformats.org/officeDocument/2006/relationships/image" Target="/ppt/media/image5.png" Id="R4874826278344ede" /><Relationship Type="http://schemas.openxmlformats.org/officeDocument/2006/relationships/notesSlide" Target="/ppt/notesSlides/notesSlide6.xml" Id="Rd48145b9f0dc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ffa7760394a85" /><Relationship Type="http://schemas.openxmlformats.org/officeDocument/2006/relationships/image" Target="/ppt/media/image6.png" Id="Rb0d356797c7a4b88" /><Relationship Type="http://schemas.openxmlformats.org/officeDocument/2006/relationships/notesSlide" Target="/ppt/notesSlides/notesSlide7.xml" Id="Ra66a5769c9684e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afb4e66054e6d" /><Relationship Type="http://schemas.openxmlformats.org/officeDocument/2006/relationships/chart" Target="/ppt/slides/charts/chart1.xml" Id="R3172c16a710747ee" /><Relationship Type="http://schemas.openxmlformats.org/officeDocument/2006/relationships/notesSlide" Target="/ppt/notesSlides/notesSlide8.xml" Id="R1396c317f99841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b9ffc21eb49d2" /><Relationship Type="http://schemas.openxmlformats.org/officeDocument/2006/relationships/chart" Target="/ppt/slides/charts/chart2.xml" Id="Re64d86cc27b442b6" /><Relationship Type="http://schemas.openxmlformats.org/officeDocument/2006/relationships/notesSlide" Target="/ppt/notesSlides/notesSlide9.xml" Id="R0cad4fa68c5e4a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a82dfeac84089" /><Relationship Type="http://schemas.openxmlformats.org/officeDocument/2006/relationships/notesSlide" Target="/ppt/notesSlides/notesSlide10.xml" Id="Rf55d681a1b1a4f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abb79d5864241" /><Relationship Type="http://schemas.openxmlformats.org/officeDocument/2006/relationships/notesSlide" Target="/ppt/notesSlides/notesSlide11.xml" Id="Re8379568f63b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7c84063846d9" /><Relationship Type="http://schemas.openxmlformats.org/officeDocument/2006/relationships/notesSlide" Target="/ppt/notesSlides/notesSlide12.xml" Id="R1f733c513da94c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Misión kWh</c:v>
          </c:tx>
          <c:spPr>
            <a:solidFill xmlns:a="http://schemas.openxmlformats.org/drawingml/2006/main">
              <a:srgbClr val="4BC0C8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F3A333"/>
              </a:solidFill>
            </c:spPr>
          </c:dPt>
          <c:cat>
            <c:strLit>
              <c:ptCount val="5"/>
              <c:pt idx="0">
                <c:v>Firme</c:v>
              </c:pt>
              <c:pt idx="1">
                <c:v>Húmedo</c:v>
              </c:pt>
              <c:pt idx="2">
                <c:v>Húm. +10%</c:v>
              </c:pt>
              <c:pt idx="3">
                <c:v>Húm. +15%</c:v>
              </c:pt>
              <c:pt idx="4">
                <c:v>Barro +10%</c:v>
              </c:pt>
            </c:strLit>
          </c:cat>
          <c:val>
            <c:numLit>
              <c:formatCode>General</c:formatCode>
              <c:ptCount val="5"/>
              <c:pt idx="0">
                <c:v>2.61</c:v>
              </c:pt>
              <c:pt idx="1">
                <c:v>3.78</c:v>
              </c:pt>
              <c:pt idx="2">
                <c:v>6.68</c:v>
              </c:pt>
              <c:pt idx="3">
                <c:v>8.14</c:v>
              </c:pt>
              <c:pt idx="4">
                <c:v>8.72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716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1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1D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17C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AF6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CFAF6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CAPEX neto</c:v>
          </c:tx>
          <c:spPr>
            <a:solidFill xmlns:a="http://schemas.openxmlformats.org/drawingml/2006/main">
              <a:srgbClr val="4BC0C8"/>
            </a:solidFill>
          </c:spPr>
          <c:cat>
            <c:strLit>
              <c:ptCount val="4"/>
              <c:pt idx="0">
                <c:v>Económico</c:v>
              </c:pt>
              <c:pt idx="1">
                <c:v>Recomendado</c:v>
              </c:pt>
              <c:pt idx="2">
                <c:v>Estrés</c:v>
              </c:pt>
              <c:pt idx="3">
                <c:v>Orugas + DJ</c:v>
              </c:pt>
            </c:strLit>
          </c:cat>
          <c:val>
            <c:numLit>
              <c:formatCode>General</c:formatCode>
              <c:ptCount val="4"/>
              <c:pt idx="0">
                <c:v>43.6</c:v>
              </c:pt>
              <c:pt idx="1">
                <c:v>65.9</c:v>
              </c:pt>
              <c:pt idx="2">
                <c:v>93.6</c:v>
              </c:pt>
              <c:pt idx="3">
                <c:v>63.8</c:v>
              </c:pt>
            </c:numLit>
          </c:val>
        </c:ser>
        <c:ser>
          <c:idx val="1"/>
          <c:order val="1"/>
          <c:tx>
            <c:v>Caja</c:v>
          </c:tx>
          <c:spPr>
            <a:solidFill xmlns:a="http://schemas.openxmlformats.org/drawingml/2006/main">
              <a:srgbClr val="F3A333"/>
            </a:solidFill>
          </c:spPr>
          <c:cat>
            <c:strLit>
              <c:ptCount val="4"/>
              <c:pt idx="0">
                <c:v>Económico</c:v>
              </c:pt>
              <c:pt idx="1">
                <c:v>Recomendado</c:v>
              </c:pt>
              <c:pt idx="2">
                <c:v>Estrés</c:v>
              </c:pt>
              <c:pt idx="3">
                <c:v>Orugas + DJ</c:v>
              </c:pt>
            </c:strLit>
          </c:cat>
          <c:val>
            <c:numLit>
              <c:formatCode>General</c:formatCode>
              <c:ptCount val="4"/>
              <c:pt idx="0">
                <c:v>50.5</c:v>
              </c:pt>
              <c:pt idx="1">
                <c:v>76.5</c:v>
              </c:pt>
              <c:pt idx="2">
                <c:v>109.3</c:v>
              </c:pt>
              <c:pt idx="3">
                <c:v>70.3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52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1C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624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FFFFF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624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7d304137f4d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56AA2-7993-49B9-952E-3F0E3C76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IDEA + ANTEPROYECTO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11CDABEE-9B6F-4D67-A5B1-F0C462FA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000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Tatú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Sonoro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35FB353-4ADD-443C-B3E3-ABB80C6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D929C-F3A5-457B-A51E-C9A15E5B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90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criatura musical móvil</a:t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barro, pasto y noche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3009-41E6-4039-974F-5B6AB98C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8BBC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BBC7"/>
                </a:solidFill>
                <a:latin typeface="Arial"/>
                <a:ea typeface="Arial"/>
                <a:cs typeface="Arial"/>
              </a:rPr>
              <a:t>Argentina · prefactibilidad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97812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2479019-6BF6-48BE-A65F-93F4E8D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57B4FB-E721-4944-B3DB-C340310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Una criatura, no un vehículo decorado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8C8A54-5D87-4039-88F2-535A88B1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8F7C2-1E3D-4297-B53B-51FFE959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CRIATURA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78657-0FCA-4507-A024-398FAAB4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MÚSICA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5E2FF-7D89-48A2-A99C-6C84F574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MOVIMIENTO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4DA4065-A516-414C-A3DB-5B2F4F80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6BAD9-8BAD-49C6-B5DC-60683EA2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714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La máquina desaparece detrás de una anatomía continua. El DJ, los parlantes y las personas forman parte del cuerpo; no se agregan arriba de un carrito.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C4DB8-4207-4930-A2FB-ADDD809F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Prueba de lectura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FA223-D6B7-4E7E-8F94-EF6194EE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A 20 metros debe verse primero un tatú. Si se ve un UTV, el arte todavía no terminó.</a:t>
            </a:r>
          </a:p>
        </p:txBody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1BD11C7-D911-4398-ACAB-ACB1697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40B699-F777-4E4D-B0C7-E1BB254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1000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CEB7A43-D060-41B6-A12F-A621978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7E6700-957C-49B0-B20D-41B254F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misión exige poco alcance y mucha capacidad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05D412-420C-4DA1-851C-C5863968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5 km">
            <a:extLst xmlns:a="http://schemas.openxmlformats.org/drawingml/2006/main">
              <a:ext uri="{FF2B5EF4-FFF2-40B4-BE49-F238E27FC236}">
                <a16:creationId xmlns:a16="http://schemas.microsoft.com/office/drawing/2014/main" id="{837512F6-D74A-4688-BFE7-24FDFFC1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5 km</a:t>
            </a:r>
          </a:p>
        </p:txBody>
      </p:sp>
      <p:sp>
        <p:nvSpPr>
          <p:cNvPr id="5" name="metric-label-5 km">
            <a:extLst xmlns:a="http://schemas.openxmlformats.org/drawingml/2006/main">
              <a:ext uri="{FF2B5EF4-FFF2-40B4-BE49-F238E27FC236}">
                <a16:creationId xmlns:a16="http://schemas.microsoft.com/office/drawing/2014/main" id="{2EB1F336-7241-4669-886B-73B7494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95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 carga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CAA2275-E05A-434D-A7DC-74A3A59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500 kg">
            <a:extLst xmlns:a="http://schemas.openxmlformats.org/drawingml/2006/main">
              <a:ext uri="{FF2B5EF4-FFF2-40B4-BE49-F238E27FC236}">
                <a16:creationId xmlns:a16="http://schemas.microsoft.com/office/drawing/2014/main" id="{10EE5F80-1642-45C6-BB74-DC97A527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500 kg</a:t>
            </a:r>
          </a:p>
        </p:txBody>
      </p:sp>
      <p:sp>
        <p:nvSpPr>
          <p:cNvPr id="8" name="metric-label-500 kg">
            <a:extLst xmlns:a="http://schemas.openxmlformats.org/drawingml/2006/main">
              <a:ext uri="{FF2B5EF4-FFF2-40B4-BE49-F238E27FC236}">
                <a16:creationId xmlns:a16="http://schemas.microsoft.com/office/drawing/2014/main" id="{36A1D28E-9457-4603-8EFC-4BEFF3D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carga útil neta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0E58F764-9234-429C-839A-FCDB739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5 km/h">
            <a:extLst xmlns:a="http://schemas.openxmlformats.org/drawingml/2006/main">
              <a:ext uri="{FF2B5EF4-FFF2-40B4-BE49-F238E27FC236}">
                <a16:creationId xmlns:a16="http://schemas.microsoft.com/office/drawing/2014/main" id="{1CCA591A-BC9D-456C-8268-BBDBCEC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5 km/h</a:t>
            </a:r>
          </a:p>
        </p:txBody>
      </p:sp>
      <p:sp>
        <p:nvSpPr>
          <p:cNvPr id="11" name="metric-label-5 km/h">
            <a:extLst xmlns:a="http://schemas.openxmlformats.org/drawingml/2006/main">
              <a:ext uri="{FF2B5EF4-FFF2-40B4-BE49-F238E27FC236}">
                <a16:creationId xmlns:a16="http://schemas.microsoft.com/office/drawing/2014/main" id="{09E456DD-7771-417B-87DF-3DEFFB9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95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velocidad normal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783C35F-8BD1-401F-834D-D14C1C6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5">
            <a:extLst xmlns:a="http://schemas.openxmlformats.org/drawingml/2006/main">
              <a:ext uri="{FF2B5EF4-FFF2-40B4-BE49-F238E27FC236}">
                <a16:creationId xmlns:a16="http://schemas.microsoft.com/office/drawing/2014/main" id="{42A45AE2-7191-4B14-9E67-3F67528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metric-label-5">
            <a:extLst xmlns:a="http://schemas.openxmlformats.org/drawingml/2006/main">
              <a:ext uri="{FF2B5EF4-FFF2-40B4-BE49-F238E27FC236}">
                <a16:creationId xmlns:a16="http://schemas.microsoft.com/office/drawing/2014/main" id="{2BBBDA41-4634-42B3-9A48-AEF7CA3F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955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piloto + DJ + 3 pasajeros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8F95D-FF34-4419-8803-1B4DFF2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Pasto · rastrojo · barro · 10% continuo · 15% corto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2E2B9-E825-4586-9BA1-936F662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Límite duro: 10 km/h. Con público, noche o irregularidades: 5 km/h y spotters.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9531E6B-9950-4F6D-A188-ED66470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5D61E3-087A-40C5-B081-EB0F632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1782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CF83CAF-67C0-4474-9AC5-7317E97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41593-422D-4630-AD39-AE0E3B38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Tatú y Chakana casi empatan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AF1925-96C2-4EC2-AB8B-BD4E86EF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654592dbd4e64"/>
          <a:srcRect xmlns:a="http://schemas.openxmlformats.org/drawingml/2006/main" l="12366" t="0" r="12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3333750" cy="2952750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sp>
        <p:nvSpPr>
          <p:cNvPr id="5" name="concept-line-0">
            <a:extLst xmlns:a="http://schemas.openxmlformats.org/drawingml/2006/main">
              <a:ext uri="{FF2B5EF4-FFF2-40B4-BE49-F238E27FC236}">
                <a16:creationId xmlns:a16="http://schemas.microsoft.com/office/drawing/2014/main" id="{828F9F30-FAF1-4FC9-ABFA-01C09B2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DBE8-4FEA-4B40-997B-D9204502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1A25B-E018-4203-A97C-61A8C1B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72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4,55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b1982e49c42e9"/>
          <a:srcRect xmlns:a="http://schemas.openxmlformats.org/drawingml/2006/main" l="12366" t="0" r="12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14500"/>
            <a:ext cx="3333750" cy="2952750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sp>
        <p:nvSpPr>
          <p:cNvPr id="9" name="concept-line-1">
            <a:extLst xmlns:a="http://schemas.openxmlformats.org/drawingml/2006/main">
              <a:ext uri="{FF2B5EF4-FFF2-40B4-BE49-F238E27FC236}">
                <a16:creationId xmlns:a16="http://schemas.microsoft.com/office/drawing/2014/main" id="{69FE416A-F9A1-4AC0-A1D2-1EA5E52E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01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317F7-A5D6-4C4A-A863-0121BF3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Chakana Resonante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DBF8E-670D-4BCD-9B68-955988EC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72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4,53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ba180306f4630"/>
          <a:srcRect xmlns:a="http://schemas.openxmlformats.org/drawingml/2006/main" l="12366" t="0" r="12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1714500"/>
            <a:ext cx="3333750" cy="2952750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sp>
        <p:nvSpPr>
          <p:cNvPr id="13" name="concept-line-2">
            <a:extLst xmlns:a="http://schemas.openxmlformats.org/drawingml/2006/main">
              <a:ext uri="{FF2B5EF4-FFF2-40B4-BE49-F238E27FC236}">
                <a16:creationId xmlns:a16="http://schemas.microsoft.com/office/drawing/2014/main" id="{3F0940FF-D539-4519-B970-561BBFE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027A7-9DD1-4720-A40A-7BAD307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Coatí Nocturno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40B19-943A-40A5-BBC6-D7A7A01C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972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9275A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9275A8"/>
                </a:solidFill>
                <a:latin typeface="Arial"/>
                <a:ea typeface="Arial"/>
                <a:cs typeface="Arial"/>
              </a:rPr>
              <a:t>4,15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7785F-D6C0-489F-8002-D65EA502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Tatú gana por mutación y seguridad. Chakana aporta la lógica modular y flat-pack.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69D001E-8AB8-4569-8434-94DB3E7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49B200-FF59-4B7C-8F18-0B6647DE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4090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7F76B5D9-EB8A-4B38-A643-99A0E0B0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23C7CD-6CCB-4011-BE90-277AEE4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Tatú esconde mejor la máquina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49CE0BB-542F-4C5D-8FD4-59AEE51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8D809-F95C-4A5D-9C52-26C09C4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7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4,55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05E82-4273-4814-8963-0E27286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526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59AB5-B3AE-4200-92DF-A074FC25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Puntaje ponderado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A271E99-F872-4080-8BFF-4865884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381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58118-708D-4BDD-9E4B-AA3C78C7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band-rule-1">
            <a:extLst xmlns:a="http://schemas.openxmlformats.org/drawingml/2006/main">
              <a:ext uri="{FF2B5EF4-FFF2-40B4-BE49-F238E27FC236}">
                <a16:creationId xmlns:a16="http://schemas.microsoft.com/office/drawing/2014/main" id="{75A67639-7831-4FD6-9E26-BCE20189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2D85B-D24D-4118-A02B-389892C3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Silueta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8FEF4-C1B9-4581-867D-9D31C40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Caparazón continuo: no hay capot, cabina ni plataforma reconocible.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15C9F-330D-45AA-82DB-5E1E240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band-rule-2">
            <a:extLst xmlns:a="http://schemas.openxmlformats.org/drawingml/2006/main">
              <a:ext uri="{FF2B5EF4-FFF2-40B4-BE49-F238E27FC236}">
                <a16:creationId xmlns:a16="http://schemas.microsoft.com/office/drawing/2014/main" id="{64720AE1-36A5-443D-BBEC-BE0FA57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C1A04-3607-413A-9442-9971750C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52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11043-4F06-4423-A705-F1C8C434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Piloto en la cabeza; DJ en la madriguera; pasajeros en alcobas laterales.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518E6-0E87-47E3-9890-BE489D0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band-rule-3">
            <a:extLst xmlns:a="http://schemas.openxmlformats.org/drawingml/2006/main">
              <a:ext uri="{FF2B5EF4-FFF2-40B4-BE49-F238E27FC236}">
                <a16:creationId xmlns:a16="http://schemas.microsoft.com/office/drawing/2014/main" id="{71FFF43F-C529-4940-AAF6-845BD1C5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35426-DAD4-4E5E-A8CB-D9EBE71A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95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A0204-9DAB-4D34-A7D8-5F41307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Escamas removibles: rueda, freno, batería y rescate siguen accesibles.</a:t>
            </a:r>
          </a:p>
        </p:txBody>
      </p:sp>
      <p:sp>
        <p:nvSpPr>
          <p:cNvPr id="2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8DA114C-95B6-483F-9D5D-4702F570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57BD17-095C-4A3E-9181-B268BB0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2510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4826278344e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j-text-panel">
            <a:extLst xmlns:a="http://schemas.openxmlformats.org/drawingml/2006/main">
              <a:ext uri="{FF2B5EF4-FFF2-40B4-BE49-F238E27FC236}">
                <a16:creationId xmlns:a16="http://schemas.microsoft.com/office/drawing/2014/main" id="{982960A2-4097-446C-989A-76BB5F0E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0"/>
            <a:ext cx="423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303BD-6674-4183-925E-8170EE7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09625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26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DJ forma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parte del cuerpo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F2CA0FB-4B47-4674-84F8-71A7BB4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DE98E43C-08FF-457C-824B-002537EE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289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FAB59E0-AC5E-43B4-AC53-3749190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943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Semi-sentado y contenido en movimiento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205436C-C269-426B-BCF4-4081822A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94EDF5B-3826-489F-8262-A9C48331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943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 1,8 kW RMS · ≤1 kW promedio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499383A-980C-4376-B10D-09C832E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2460AA8-59AD-42C6-9CB1-D009986C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2943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 bajo y tops dentro de los hombros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C02AD4A3-C6BB-4EC8-8678-6550EB66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FB08579-82C5-49D8-8C76-66C0F37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943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Mute físico y DSP con presets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B53A5-562F-4199-822D-C25EACF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10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De pie, sólo estacionado.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1D6A7-356E-4C54-A124-53B25C5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Visual conceptual · no es plano</a:t>
            </a:r>
          </a:p>
        </p:txBody>
      </p:sp>
    </p:spTree>
    <p:extLst>
      <p:ext uri="{BB962C8B-B14F-4D97-AF65-F5344CB8AC3E}">
        <p14:creationId xmlns:p14="http://schemas.microsoft.com/office/powerpoint/2010/main" val="758121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FA0776A8-9F83-4162-9FC8-60DB117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21D491-407E-48D7-A834-491C1D20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ingeniería queda debajo de la escultura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7BE96B-52F0-499D-92E3-703D080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356797c7a4b88"/>
          <a:stretch xmlns:a="http://schemas.openxmlformats.org/drawingml/2006/main"/>
        </p:blipFill>
        <p:spPr>
          <a:xfrm xmlns:a="http://schemas.openxmlformats.org/drawingml/2006/main">
            <a:off x="571500" y="1597289"/>
            <a:ext cx="7524750" cy="4234922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CBDBB-B6E7-42B3-8D11-539E6543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Bajo y centrado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A3525FDB-D6A0-4A73-9005-F2198678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92D49CAC-854E-4615-B5FB-251C664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383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Batería LFP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031AC1C5-102D-4D0C-BBA1-6B00636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E45F778-D1F6-46FC-810D-924C8CA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336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Subwoofer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CB122C-B6C1-4E4E-9DA1-23D6D7BE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D7B79F0-6227-42C1-8623-3A6094A5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289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Inversor y rack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C7158-E761-438F-B7A7-14AC6512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Alto y liviano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21C57907-EEAB-430F-8F5F-D99C2A74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434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C329C87-DD02-4B7F-86BC-9E87D05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767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Escamas desmontables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F0F7A658-D6BC-430A-AAA2-693B882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387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9E657D1-9744-45B3-A242-3151B40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720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Iluminación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7A5878E-0FA3-4CEE-9C30-B8AFACCB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340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5AB630D-61D1-47A7-B3E1-C32AC4E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4673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Canopy permeable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7BC9C-9C0C-4677-AA87-80512AA8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Packaging final a validar en CAD</a:t>
            </a:r>
          </a:p>
        </p:txBody>
      </p:sp>
      <p:sp>
        <p:nvSpPr>
          <p:cNvPr id="2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34C365E-37DD-4D44-84F1-00BD4640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F70050-9B0F-49CA-9E68-C5A8DFB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2697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5E8BBE6-8B21-485B-B1F6-3FC3048F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BF372-0488-4B05-AB6F-EF479CF4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15 kWh cierran la misión más exigente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8F2D22-F111-42C1-872F-CEF4261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72c16a710747ee"/>
          </a:graphicData>
        </a:graphic>
      </p:graphicFrame>
      <p:sp>
        <p:nvSpPr>
          <p:cNvPr id="5" name="usable-line">
            <a:extLst xmlns:a="http://schemas.openxmlformats.org/drawingml/2006/main">
              <a:ext uri="{FF2B5EF4-FFF2-40B4-BE49-F238E27FC236}">
                <a16:creationId xmlns:a16="http://schemas.microsoft.com/office/drawing/2014/main" id="{33CAA943-CC87-4C49-9FF7-31D69481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14575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0647D-AE13-4DC3-BB84-720244A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66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10,2 kWh utilizables</a:t>
            </a:r>
          </a:p>
        </p:txBody>
      </p:sp>
      <p:sp>
        <p:nvSpPr>
          <p:cNvPr id="7" name="metric-1,48">
            <a:extLst xmlns:a="http://schemas.openxmlformats.org/drawingml/2006/main">
              <a:ext uri="{FF2B5EF4-FFF2-40B4-BE49-F238E27FC236}">
                <a16:creationId xmlns:a16="http://schemas.microsoft.com/office/drawing/2014/main" id="{E6B58778-789E-41CE-A0F2-92F356B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1,48</a:t>
            </a:r>
          </a:p>
        </p:txBody>
      </p:sp>
      <p:sp>
        <p:nvSpPr>
          <p:cNvPr id="8" name="metric-label-1,48">
            <a:extLst xmlns:a="http://schemas.openxmlformats.org/drawingml/2006/main">
              <a:ext uri="{FF2B5EF4-FFF2-40B4-BE49-F238E27FC236}">
                <a16:creationId xmlns:a16="http://schemas.microsoft.com/office/drawing/2014/main" id="{0D02CA24-0D98-4B38-8BBA-89B026E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kWh de margen en barro +10%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CA540-9668-42CD-9133-38EB4E9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714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La distancia sola no dimensiona la batería. El peor caso combina masa, rodadura, pendiente y 1,45 kW de auxiliares.</a:t>
            </a:r>
          </a:p>
        </p:txBody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F0C883E-3A46-4AAC-8303-ABF746C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1AADB7-024C-4D7C-8989-34896E3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386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E08D559-F345-49D5-9037-935C5916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8C79C5-F86C-470F-B007-1B26B66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presupuesto compra margen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63BCAB-5D28-4A98-8F04-C92F384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7429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4d86cc27b442b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D518D-A23C-4078-AA10-C51B98F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USD 65,9k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1DD0F-93EF-46BB-AF08-E79D9506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costo neto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D2560-B2CB-4CAB-A5BE-D6F326FB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USD 76,5k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208D6-A5C0-4AF2-8A86-7449105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necesidad de caja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3A227-8B47-4E32-9EA6-DC574EB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4825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Caja ≠ costo: IVA y percepciones pueden recuperarse.</a:t>
            </a:r>
          </a:p>
        </p:txBody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66CFBC5-C25C-4B17-AF98-89940D9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59F1CA-C707-4C4A-9128-3D7A51E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2513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07713A5-8760-47F6-B312-411E7622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C93EA0-9061-4BD6-B252-A9A81114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No comprar todavía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6A5597-D806-4155-A5B2-CBCFDAB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56046-D313-490E-8EFA-F1B7A3D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and-rule-1">
            <a:extLst xmlns:a="http://schemas.openxmlformats.org/drawingml/2006/main">
              <a:ext uri="{FF2B5EF4-FFF2-40B4-BE49-F238E27FC236}">
                <a16:creationId xmlns:a16="http://schemas.microsoft.com/office/drawing/2014/main" id="{CC07DD22-CF3F-4E19-A544-62071689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E53F5-8FC3-4042-A931-B814AEB3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4 ruedas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06FB7-73FC-426F-9D12-27099F3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USD 530,40, pero no demuestra carga, frenos, masa ni 4WD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4B160-2278-45E4-A33D-7962837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nd-rule-2">
            <a:extLst xmlns:a="http://schemas.openxmlformats.org/drawingml/2006/main">
              <a:ext uri="{FF2B5EF4-FFF2-40B4-BE49-F238E27FC236}">
                <a16:creationId xmlns:a16="http://schemas.microsoft.com/office/drawing/2014/main" id="{CF93F579-9657-468A-B80F-C7FDCBEE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1AF53-BF19-431A-BE57-DF969EF2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00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Orugas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45840-884E-40EF-AF57-109211E6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La ficha no prueba frenado ni aptitud para pasajeros; logística y masa crecen.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5955F-8662-4C8A-BC4E-8F57DE9B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band-rule-3">
            <a:extLst xmlns:a="http://schemas.openxmlformats.org/drawingml/2006/main">
              <a:ext uri="{FF2B5EF4-FFF2-40B4-BE49-F238E27FC236}">
                <a16:creationId xmlns:a16="http://schemas.microsoft.com/office/drawing/2014/main" id="{D0AC5EF2-1DAC-4D56-9127-78F33FF9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285FB-6CE0-4A57-8FBF-CF1A620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91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Eje 2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6A6DF-3112-45C7-B7E2-30136857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Insuficiente para 1,6 t, barro y pendiente. El claim de 900 kg no es payload.</a:t>
            </a:r>
          </a:p>
        </p:txBody>
      </p:sp>
      <p:sp>
        <p:nvSpPr>
          <p:cNvPr id="16" name="no-buy-summary">
            <a:extLst xmlns:a="http://schemas.openxmlformats.org/drawingml/2006/main">
              <a:ext uri="{FF2B5EF4-FFF2-40B4-BE49-F238E27FC236}">
                <a16:creationId xmlns:a16="http://schemas.microsoft.com/office/drawing/2014/main" id="{F465E1C2-106B-481C-8559-FB994D4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298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B2C33-7607-4917-A303-D0C8FF9D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Comprar especificaciones verificadas, no títulos de publicación.</a:t>
            </a:r>
          </a:p>
        </p:txBody>
      </p:sp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5BAC592-364C-4AFE-902D-340E443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5A34D4-EE44-4598-AF3F-9DAB10E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0152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FD4E3B3E-1FF3-4F59-9741-26868A3B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96F7F0-B126-4C41-B402-1E97DD3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idea a misión validada en 7–9 meses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EBD96E-B915-4699-A57E-2712B76C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0FEEB1BD-166C-4A28-8087-A58EA0A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0FA4575E-D037-4938-9A51-4F98001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52663-EAF6-4373-B114-23500184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1–2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4BE8-F33E-4A3C-A521-0E131A6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718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Brief y reglas</a:t>
            </a:r>
          </a:p>
        </p:txBody>
      </p:sp>
      <p:sp>
        <p:nvSpPr>
          <p:cNvPr id="8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BEF35BD3-4A4F-4474-B6DC-A00F97AB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3AF5-915B-443D-B132-0CCFF20C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2–8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2176D-ECBD-41CE-AC4C-25020D4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718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RFQ + donor</a:t>
            </a:r>
          </a:p>
        </p:txBody>
      </p:sp>
      <p:sp>
        <p:nvSpPr>
          <p:cNvPr id="11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61A2BAC2-33DA-453D-B1CE-8256E0C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3EA86-B674-44B6-B364-D34DB44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57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7–16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BFC6E-53FF-4F89-BDEA-C559185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Ingeniería + fábrica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ADDFFA44-39EB-4A3F-84AB-7F1E707A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1EDBE-4CD4-4836-98FD-22D6D632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16–29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7B6B2-A2FB-4296-8B84-5937D40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Importar + integrar</a:t>
            </a:r>
          </a:p>
        </p:txBody>
      </p:sp>
      <p:sp>
        <p:nvSpPr>
          <p:cNvPr id="17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88AC44EE-2B78-4B23-95CE-3E206F3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CA440-933C-4E01-8DD7-A2D856F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457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29–36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05440-279B-4CFD-8D5F-4294270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718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Ensayar + operar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E3EDE-B5F8-4F31-A9CD-19E487D1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La secuencia evita esconder fallas debajo del arte: primero rolling chassis, después estructura, audio y por último caparazón.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ACEB686-271F-48A8-8263-B3E3010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agosto 2026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445B45-0A71-40CB-B87B-58B5D2F1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9839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1D7E6-BAE2-48F7-9153-2E06797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PRÓXIMA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52935-CCA5-4654-B533-0749D612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Aprobar primero</a:t>
            </a:r>
          </a:p>
          <a:p xmlns:a="http://schemas.openxmlformats.org/drawingml/2006/main">
            <a:pPr algn="l">
              <a:defRPr sz="45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USD 2–4 mil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B0E7D6D-7E51-4B2F-A3EE-8B9722F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1A2828E1-539A-4A8F-9C3B-C64341A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EE23527-BB4F-423F-B6DB-6F677DA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RFQ técnico comparable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5BF32EFB-7260-4D5B-97D1-1F83B8B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25D7438-B93A-4054-A3AF-D90AEDDB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Clasificación NCM escrita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1CC2CCBA-19F7-4D79-B2EA-E9D62B3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244D1F2-1989-4BAB-A02F-128CC7D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Layout CAD</a:t>
            </a:r>
          </a:p>
        </p:txBody>
      </p:sp>
      <p:sp>
        <p:nvSpPr>
          <p:cNvPr id="10" name="bullet-3">
            <a:extLst xmlns:a="http://schemas.openxmlformats.org/drawingml/2006/main">
              <a:ext uri="{FF2B5EF4-FFF2-40B4-BE49-F238E27FC236}">
                <a16:creationId xmlns:a16="http://schemas.microsoft.com/office/drawing/2014/main" id="{B4C699C3-BE18-49F6-89F8-B3D6CA6D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B80958E-F970-465B-9F2B-DFF148E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Prueba / alquiler de PA</a:t>
            </a:r>
          </a:p>
        </p:txBody>
      </p:sp>
      <p:sp>
        <p:nvSpPr>
          <p:cNvPr id="12" name="ask-block">
            <a:extLst xmlns:a="http://schemas.openxmlformats.org/drawingml/2006/main">
              <a:ext uri="{FF2B5EF4-FFF2-40B4-BE49-F238E27FC236}">
                <a16:creationId xmlns:a16="http://schemas.microsoft.com/office/drawing/2014/main" id="{00A8994A-2B2A-4FF3-9020-69C759B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04875"/>
            <a:ext cx="3810000" cy="4762500"/>
          </a:xfrm>
          <a:prstGeom xmlns:a="http://schemas.openxmlformats.org/drawingml/2006/main" prst="roundRect">
            <a:avLst>
              <a:gd name="adj" fmla="val 6500"/>
            </a:avLst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B3BDE-BEEA-489C-8911-5A22D77C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811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23F9-4BCD-45ED-AF4E-EB4B3087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autorizar todavía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CAPEX completo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E54AC50-DAFC-4C3B-BBB4-BB58BF7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C6CFA-EC73-4F12-8274-AD89EEE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El proyecto es viable.</a:t>
            </a:r>
          </a:p>
          <a:p xmlns:a="http://schemas.openxmlformats.org/drawingml/2006/main">
            <a:pPr algn="ctr">
              <a:defRPr sz="1575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El donor todavía no está probado.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6FB6E-0B93-48FE-BE8C-F89EC835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Tatú Sonoro · prefactibilidad</a:t>
            </a:r>
          </a:p>
        </p:txBody>
      </p:sp>
    </p:spTree>
    <p:extLst>
      <p:ext uri="{BB962C8B-B14F-4D97-AF65-F5344CB8AC3E}">
        <p14:creationId xmlns:p14="http://schemas.microsoft.com/office/powerpoint/2010/main" val="1107356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2026-08-13T15:21:37.4000000Z</dcterms:created>
  <dcterms:modified xsi:type="dcterms:W3CDTF">2026-08-13T15:21:37.4000000Z</dcterms:modified>
</coreProperties>
</file>