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2686ecb73441a4" /><Relationship Type="http://schemas.openxmlformats.org/officeDocument/2006/relationships/extended-properties" Target="/docProps/app.xml" Id="R31f486c61ab4436d" /><Relationship Type="http://schemas.openxmlformats.org/officeDocument/2006/relationships/officeDocument" Target="/ppt/presentation.xml" Id="R999cba528da247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f245751feb481c"/>
  </p:sldMasterIdLst>
  <p:notesMasterIdLst>
    <p:notesMasterId xmlns:r="http://schemas.openxmlformats.org/officeDocument/2006/relationships" r:id="R3e64eca0f4df4f3b"/>
  </p:notesMasterIdLst>
  <p:sldIdLst>
    <p:sldId xmlns:r="http://schemas.openxmlformats.org/officeDocument/2006/relationships" id="256" r:id="R221e247a72e1459b"/>
    <p:sldId xmlns:r="http://schemas.openxmlformats.org/officeDocument/2006/relationships" id="257" r:id="Rb93ba645a3404295"/>
    <p:sldId xmlns:r="http://schemas.openxmlformats.org/officeDocument/2006/relationships" id="258" r:id="R675a37af146d45a9"/>
    <p:sldId xmlns:r="http://schemas.openxmlformats.org/officeDocument/2006/relationships" id="259" r:id="R319a8a65c4e24318"/>
    <p:sldId xmlns:r="http://schemas.openxmlformats.org/officeDocument/2006/relationships" id="260" r:id="Re77341eb5c4d4ee3"/>
    <p:sldId xmlns:r="http://schemas.openxmlformats.org/officeDocument/2006/relationships" id="261" r:id="Rc12c09ae950b4a82"/>
    <p:sldId xmlns:r="http://schemas.openxmlformats.org/officeDocument/2006/relationships" id="262" r:id="R067e4fa4ed144fe1"/>
    <p:sldId xmlns:r="http://schemas.openxmlformats.org/officeDocument/2006/relationships" id="263" r:id="R3c3bc3c343bc4fea"/>
    <p:sldId xmlns:r="http://schemas.openxmlformats.org/officeDocument/2006/relationships" id="264" r:id="Rd32b2fa018d24512"/>
    <p:sldId xmlns:r="http://schemas.openxmlformats.org/officeDocument/2006/relationships" id="265" r:id="R4bc7f9b3f27f4332"/>
    <p:sldId xmlns:r="http://schemas.openxmlformats.org/officeDocument/2006/relationships" id="266" r:id="Ra123d87f7c1b4c71"/>
    <p:sldId xmlns:r="http://schemas.openxmlformats.org/officeDocument/2006/relationships" id="267" r:id="R0996d32aaa1d46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f4852d975a4a2f" /><Relationship Type="http://schemas.openxmlformats.org/officeDocument/2006/relationships/slideMaster" Target="/ppt/slideMasters/slideMaster1.xml" Id="Rb5f245751feb481c" /><Relationship Type="http://schemas.openxmlformats.org/officeDocument/2006/relationships/notesMaster" Target="/ppt/notesMasters/notesMaster1.xml" Id="R3e64eca0f4df4f3b" /><Relationship Type="http://schemas.openxmlformats.org/officeDocument/2006/relationships/presProps" Target="/ppt/presProps.xml" Id="Ra414253c4e13423c" /><Relationship Type="http://schemas.openxmlformats.org/officeDocument/2006/relationships/tableStyles" Target="/ppt/tableStyles.xml" Id="R5c82e1c05c754773" /><Relationship Type="http://schemas.openxmlformats.org/officeDocument/2006/relationships/slide" Target="/ppt/slides/slide1.xml" Id="R221e247a72e1459b" /><Relationship Type="http://schemas.openxmlformats.org/officeDocument/2006/relationships/slide" Target="/ppt/slides/slide2.xml" Id="Rb93ba645a3404295" /><Relationship Type="http://schemas.openxmlformats.org/officeDocument/2006/relationships/slide" Target="/ppt/slides/slide3.xml" Id="R675a37af146d45a9" /><Relationship Type="http://schemas.openxmlformats.org/officeDocument/2006/relationships/slide" Target="/ppt/slides/slide4.xml" Id="R319a8a65c4e24318" /><Relationship Type="http://schemas.openxmlformats.org/officeDocument/2006/relationships/slide" Target="/ppt/slides/slide5.xml" Id="Re77341eb5c4d4ee3" /><Relationship Type="http://schemas.openxmlformats.org/officeDocument/2006/relationships/slide" Target="/ppt/slides/slide6.xml" Id="Rc12c09ae950b4a82" /><Relationship Type="http://schemas.openxmlformats.org/officeDocument/2006/relationships/slide" Target="/ppt/slides/slide7.xml" Id="R067e4fa4ed144fe1" /><Relationship Type="http://schemas.openxmlformats.org/officeDocument/2006/relationships/slide" Target="/ppt/slides/slide8.xml" Id="R3c3bc3c343bc4fea" /><Relationship Type="http://schemas.openxmlformats.org/officeDocument/2006/relationships/slide" Target="/ppt/slides/slide9.xml" Id="Rd32b2fa018d24512" /><Relationship Type="http://schemas.openxmlformats.org/officeDocument/2006/relationships/slide" Target="/ppt/slides/slide10.xml" Id="R4bc7f9b3f27f4332" /><Relationship Type="http://schemas.openxmlformats.org/officeDocument/2006/relationships/slide" Target="/ppt/slides/slide11.xml" Id="Ra123d87f7c1b4c71" /><Relationship Type="http://schemas.openxmlformats.org/officeDocument/2006/relationships/slide" Target="/ppt/slides/slide12.xml" Id="R0996d32aaa1d46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b2ac96fd2a47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1a2d86c44e40de" /><Relationship Type="http://schemas.openxmlformats.org/officeDocument/2006/relationships/notesMaster" Target="/ppt/notesMasters/notesMaster1.xml" Id="Rb1000f59c44742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66408293de45e5" /><Relationship Type="http://schemas.openxmlformats.org/officeDocument/2006/relationships/notesMaster" Target="/ppt/notesMasters/notesMaster1.xml" Id="R6d1c385514184c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6a8fe4199e46e1" /><Relationship Type="http://schemas.openxmlformats.org/officeDocument/2006/relationships/notesMaster" Target="/ppt/notesMasters/notesMaster1.xml" Id="R50e4ae2e36b848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2e234c69d546b4" /><Relationship Type="http://schemas.openxmlformats.org/officeDocument/2006/relationships/notesMaster" Target="/ppt/notesMasters/notesMaster1.xml" Id="R5c3d05539d284d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f3601f04df47e8" /><Relationship Type="http://schemas.openxmlformats.org/officeDocument/2006/relationships/notesMaster" Target="/ppt/notesMasters/notesMaster1.xml" Id="Re8d255e14ddf45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24ecb2735241cb" /><Relationship Type="http://schemas.openxmlformats.org/officeDocument/2006/relationships/notesMaster" Target="/ppt/notesMasters/notesMaster1.xml" Id="Rfbdec10642024d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d74c0db45648a1" /><Relationship Type="http://schemas.openxmlformats.org/officeDocument/2006/relationships/notesMaster" Target="/ppt/notesMasters/notesMaster1.xml" Id="R14b27233351147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afcc9d8f054cd9" /><Relationship Type="http://schemas.openxmlformats.org/officeDocument/2006/relationships/notesMaster" Target="/ppt/notesMasters/notesMaster1.xml" Id="Rb4aba112d5dd40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a8952f843a4fdd" /><Relationship Type="http://schemas.openxmlformats.org/officeDocument/2006/relationships/notesMaster" Target="/ppt/notesMasters/notesMaster1.xml" Id="R2d7a0ac34b8044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aaf06efa0d426d" /><Relationship Type="http://schemas.openxmlformats.org/officeDocument/2006/relationships/notesMaster" Target="/ppt/notesMasters/notesMaster1.xml" Id="Rce5e5e73a7144b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b76e03e05247b0" /><Relationship Type="http://schemas.openxmlformats.org/officeDocument/2006/relationships/notesMaster" Target="/ppt/notesMasters/notesMaster1.xml" Id="R4eb2cf2b600a4d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50b0b2921446a9" /><Relationship Type="http://schemas.openxmlformats.org/officeDocument/2006/relationships/notesMaster" Target="/ppt/notesMasters/notesMaster1.xml" Id="R408456f650f041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/Users/martinmarquez/projects/chakana-art-car/output/visuals/11_cutaway_presentacion.png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- /Users/martinmarquez/projects/chakana-art-car/output/Chakana_Art_Car_Presupuesto_Modelo.xlsx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/Users/martinmarquez/projects/chakana-art-car/output/visuals/01_tatu_sonoro.png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/Users/martinmarquez/projects/chakana-art-car/output/Chakana_Art_Car_Presupuesto_Modelo.xlsx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/Users/martinmarquez/projects/chakana-art-car/output/Chakana_Art_Car_Presupuesto_Modelo.xlsx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/Users/martinmarquez/projects/chakana-art-car/output/Chakana_Art_Car_Presupuesto_Modelo.xlsx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- https://www.goingnowhere.org/participate/artomobiles/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https://www.alibaba.com/product-detail/Four-Wheel-Unmanned-Autonomous-Wire-Control_1601605765591.html</a:t>
            </a:r>
          </a:p>
          <a:p xmlns:a="http://schemas.openxmlformats.org/drawingml/2006/main">
            <a:r>
              <a:t>- https://www.alibaba.com/product-detail/OEM-Custom-Remote-Controlled-Rubber-Track_1601864041467.html</a:t>
            </a:r>
          </a:p>
          <a:p xmlns:a="http://schemas.openxmlformats.org/drawingml/2006/main">
            <a:r>
              <a:t>- https://www.alibaba.com/product-detail/100CM-2000W-Shift-Differential-Rear-Axle_1601869479511.html</a:t>
            </a:r>
          </a:p>
          <a:p xmlns:a="http://schemas.openxmlformats.org/drawingml/2006/main">
            <a:r>
              <a:t>- https://www.phmsa.dot.gov/lithiumbatteries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/Users/martinmarquez/projects/chakana-art-car/output/Chakana_Art_Car_Presupuesto_Modelo.xlsx</a:t>
            </a:r>
          </a:p>
          <a:p xmlns:a="http://schemas.openxmlformats.org/drawingml/2006/main">
            <a:r>
              <a:t>- https://www.argentina.gob.ar/normativa/nacional/norma-407914</a:t>
            </a:r>
          </a:p>
          <a:p xmlns:a="http://schemas.openxmlformats.org/drawingml/2006/main">
            <a:r>
              <a:t>- https://www.argentina.gob.ar/node/196822</a:t>
            </a:r>
          </a:p>
          <a:p xmlns:a="http://schemas.openxmlformats.org/drawingml/2006/main">
            <a:r>
              <a:t>- https://www.argentina.gob.ar/obtener-licencia-de-configuracion-de-modelo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/Users/martinmarquez/projects/chakana-art-car/output/Chakana_Art_Car_Anteproyecto_Prefactibilidad.pdf</a:t>
            </a:r>
          </a:p>
          <a:p xmlns:a="http://schemas.openxmlformats.org/drawingml/2006/main">
            <a:r>
              <a:t>- https://www.phmsa.dot.gov/lithiumbatteries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c149c8dd94e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9e69a651d94afb" /><Relationship Type="http://schemas.openxmlformats.org/officeDocument/2006/relationships/slideLayout" Target="/ppt/slideLayouts/slideLayout1.xml" Id="R35c2f0d3eda948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c2f0d3eda948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3b4bc23eb4668" /><Relationship Type="http://schemas.openxmlformats.org/officeDocument/2006/relationships/image" Target="/ppt/media/image.png" Id="R3b16b0fab8484fe7" /><Relationship Type="http://schemas.openxmlformats.org/officeDocument/2006/relationships/notesSlide" Target="/ppt/notesSlides/notesSlide1.xml" Id="R69852cf3233747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b84bfc95f4ccb" /><Relationship Type="http://schemas.openxmlformats.org/officeDocument/2006/relationships/notesSlide" Target="/ppt/notesSlides/notesSlide2.xml" Id="R6f54ea87a26d4e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499cbfa4b4afb" /><Relationship Type="http://schemas.openxmlformats.org/officeDocument/2006/relationships/image" Target="/ppt/media/image2.png" Id="R2abc74189e024190" /><Relationship Type="http://schemas.openxmlformats.org/officeDocument/2006/relationships/notesSlide" Target="/ppt/notesSlides/notesSlide3.xml" Id="R48fed47a59dd41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a369f5325413c" /><Relationship Type="http://schemas.openxmlformats.org/officeDocument/2006/relationships/notesSlide" Target="/ppt/notesSlides/notesSlide4.xml" Id="R4059f8a7fbc24a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3d2d4b4d54f8a" /><Relationship Type="http://schemas.openxmlformats.org/officeDocument/2006/relationships/chart" Target="/ppt/slides/charts/chart1.xml" Id="R82b3bb863d314851" /><Relationship Type="http://schemas.openxmlformats.org/officeDocument/2006/relationships/notesSlide" Target="/ppt/notesSlides/notesSlide5.xml" Id="Red65c6552b1c4c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c26f902b2439e" /><Relationship Type="http://schemas.openxmlformats.org/officeDocument/2006/relationships/chart" Target="/ppt/slides/charts/chart2.xml" Id="Rc7a21010671e4e24" /><Relationship Type="http://schemas.openxmlformats.org/officeDocument/2006/relationships/notesSlide" Target="/ppt/notesSlides/notesSlide6.xml" Id="R54bb51d3acd14a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169eb3dd74f52" /><Relationship Type="http://schemas.openxmlformats.org/officeDocument/2006/relationships/notesSlide" Target="/ppt/notesSlides/notesSlide7.xml" Id="Ra173342138dd4b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afc7e170b4efb" /><Relationship Type="http://schemas.openxmlformats.org/officeDocument/2006/relationships/notesSlide" Target="/ppt/notesSlides/notesSlide8.xml" Id="R91911a317ba441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1fc9f22b34d25" /><Relationship Type="http://schemas.openxmlformats.org/officeDocument/2006/relationships/notesSlide" Target="/ppt/notesSlides/notesSlide9.xml" Id="R4a4cf70928884e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3bbe4115b46be" /><Relationship Type="http://schemas.openxmlformats.org/officeDocument/2006/relationships/notesSlide" Target="/ppt/notesSlides/notesSlide10.xml" Id="Rdd9ee5c56a6e47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5862145a44f2b" /><Relationship Type="http://schemas.openxmlformats.org/officeDocument/2006/relationships/notesSlide" Target="/ppt/notesSlides/notesSlide11.xml" Id="Ra7c06d361f0746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560ddb90a463b" /><Relationship Type="http://schemas.openxmlformats.org/officeDocument/2006/relationships/notesSlide" Target="/ppt/notesSlides/notesSlide12.xml" Id="Re3d6c9793b354c7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@5 km/h</c:v>
          </c:tx>
          <c:spPr>
            <a:solidFill xmlns:a="http://schemas.openxmlformats.org/drawingml/2006/main">
              <a:srgbClr val="4BC0C8"/>
            </a:solidFill>
          </c:spPr>
          <c:cat>
            <c:strLit>
              <c:ptCount val="5"/>
              <c:pt idx="0">
                <c:v>Firme</c:v>
              </c:pt>
              <c:pt idx="1">
                <c:v>Húmedo</c:v>
              </c:pt>
              <c:pt idx="2">
                <c:v>Húm. +10%</c:v>
              </c:pt>
              <c:pt idx="3">
                <c:v>Húm. +15%</c:v>
              </c:pt>
              <c:pt idx="4">
                <c:v>Barro +10%</c:v>
              </c:pt>
            </c:strLit>
          </c:cat>
          <c:val>
            <c:numLit>
              <c:formatCode>General</c:formatCode>
              <c:ptCount val="5"/>
              <c:pt idx="0">
                <c:v>1.16</c:v>
              </c:pt>
              <c:pt idx="1">
                <c:v>2.33</c:v>
              </c:pt>
              <c:pt idx="2">
                <c:v>5.23</c:v>
              </c:pt>
              <c:pt idx="3">
                <c:v>6.69</c:v>
              </c:pt>
              <c:pt idx="4">
                <c:v>7.27</c:v>
              </c:pt>
            </c:numLit>
          </c:val>
        </c:ser>
        <c:ser>
          <c:idx val="1"/>
          <c:order val="1"/>
          <c:tx>
            <c:v>@8 km/h</c:v>
          </c:tx>
          <c:spPr>
            <a:solidFill xmlns:a="http://schemas.openxmlformats.org/drawingml/2006/main">
              <a:srgbClr val="F3A333"/>
            </a:solidFill>
          </c:spPr>
          <c:cat>
            <c:strLit>
              <c:ptCount val="5"/>
              <c:pt idx="0">
                <c:v>Firme</c:v>
              </c:pt>
              <c:pt idx="1">
                <c:v>Húmedo</c:v>
              </c:pt>
              <c:pt idx="2">
                <c:v>Húm. +10%</c:v>
              </c:pt>
              <c:pt idx="3">
                <c:v>Húm. +15%</c:v>
              </c:pt>
              <c:pt idx="4">
                <c:v>Barro +10%</c:v>
              </c:pt>
            </c:strLit>
          </c:cat>
          <c:val>
            <c:numLit>
              <c:formatCode>General</c:formatCode>
              <c:ptCount val="5"/>
              <c:pt idx="0">
                <c:v>1.86</c:v>
              </c:pt>
              <c:pt idx="1">
                <c:v>3.72</c:v>
              </c:pt>
              <c:pt idx="2">
                <c:v>8.37</c:v>
              </c:pt>
              <c:pt idx="3">
                <c:v>10.7</c:v>
              </c:pt>
              <c:pt idx="4">
                <c:v>11.63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05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AFC1CB"/>
                    </a:solidFill>
                  </a:rPr>
                  <a:t>kW de tracción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AFC1CB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1C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624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FFFFF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624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Misión kWh</c:v>
          </c:tx>
          <c:spPr>
            <a:solidFill xmlns:a="http://schemas.openxmlformats.org/drawingml/2006/main">
              <a:srgbClr val="4BC0C8"/>
            </a:solidFill>
          </c:spPr>
          <c:dPt>
            <c:idx val="4"/>
            <c:invertIfNegative val="0"/>
            <c:spPr>
              <a:solidFill xmlns:a="http://schemas.openxmlformats.org/drawingml/2006/main">
                <a:srgbClr val="F3A333"/>
              </a:solidFill>
            </c:spPr>
          </c:dPt>
          <c:cat>
            <c:strLit>
              <c:ptCount val="5"/>
              <c:pt idx="0">
                <c:v>Firme</c:v>
              </c:pt>
              <c:pt idx="1">
                <c:v>Húmedo</c:v>
              </c:pt>
              <c:pt idx="2">
                <c:v>+10%</c:v>
              </c:pt>
              <c:pt idx="3">
                <c:v>+15%</c:v>
              </c:pt>
              <c:pt idx="4">
                <c:v>Barro +10%</c:v>
              </c:pt>
            </c:strLit>
          </c:cat>
          <c:val>
            <c:numLit>
              <c:formatCode>General</c:formatCode>
              <c:ptCount val="5"/>
              <c:pt idx="0">
                <c:v>2.61</c:v>
              </c:pt>
              <c:pt idx="1">
                <c:v>3.78</c:v>
              </c:pt>
              <c:pt idx="2">
                <c:v>6.68</c:v>
              </c:pt>
              <c:pt idx="3">
                <c:v>8.14</c:v>
              </c:pt>
              <c:pt idx="4">
                <c:v>8.72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716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1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4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D1D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17C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CFAF6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CFAF6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6b0fab8484fe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5C3FAF3D-4297-4E47-BDF8-6B41AC40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E2EE1-6B27-40A7-BA76-517BCE3A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9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DOSSIER TÉCNICO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C2C97-56F2-4D0F-BCC6-A5087D5F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Tatú Sonoro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6C04097-3759-41F3-8A4F-BE23BDD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54890-0E71-4762-B498-4173D066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de diseño, compras, importación y pruebas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378EF-301D-4B81-BC67-5479D52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436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EB2C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9EB2C0"/>
                </a:solidFill>
                <a:latin typeface="Arial"/>
                <a:ea typeface="Arial"/>
                <a:cs typeface="Arial"/>
              </a:rPr>
              <a:t>Prefactibilidad · Argentina · agosto 2026</a:t>
            </a:r>
          </a:p>
        </p:txBody>
      </p:sp>
    </p:spTree>
    <p:extLst>
      <p:ext uri="{BB962C8B-B14F-4D97-AF65-F5344CB8AC3E}">
        <p14:creationId xmlns:p14="http://schemas.microsoft.com/office/powerpoint/2010/main" val="153496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18AF464D-454F-4329-B5F5-6A1E9344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BASE TÉCNICA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69AC4A-E6EA-41E5-B897-CE8023C1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El caso de diseño es 1,6 toneladas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D24A9BB-2764-45D6-8A9C-69D2BFF5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1.635">
            <a:extLst xmlns:a="http://schemas.openxmlformats.org/drawingml/2006/main">
              <a:ext uri="{FF2B5EF4-FFF2-40B4-BE49-F238E27FC236}">
                <a16:creationId xmlns:a16="http://schemas.microsoft.com/office/drawing/2014/main" id="{E5B91FEA-B7CB-4C2D-B0F0-29AB0EF7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1.635</a:t>
            </a:r>
          </a:p>
        </p:txBody>
      </p:sp>
      <p:sp>
        <p:nvSpPr>
          <p:cNvPr id="5" name="metric-label-1.635">
            <a:extLst xmlns:a="http://schemas.openxmlformats.org/drawingml/2006/main">
              <a:ext uri="{FF2B5EF4-FFF2-40B4-BE49-F238E27FC236}">
                <a16:creationId xmlns:a16="http://schemas.microsoft.com/office/drawing/2014/main" id="{7CA545CC-7A8D-46AC-9B0E-599FB58C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kg operativos proyectados</a:t>
            </a:r>
          </a:p>
        </p:txBody>
      </p:sp>
      <p:sp>
        <p:nvSpPr>
          <p:cNvPr id="6" name="metric-12">
            <a:extLst xmlns:a="http://schemas.openxmlformats.org/drawingml/2006/main">
              <a:ext uri="{FF2B5EF4-FFF2-40B4-BE49-F238E27FC236}">
                <a16:creationId xmlns:a16="http://schemas.microsoft.com/office/drawing/2014/main" id="{98D92D45-9CA1-49B7-BB7F-C4A2225E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metric-label-12">
            <a:extLst xmlns:a="http://schemas.openxmlformats.org/drawingml/2006/main">
              <a:ext uri="{FF2B5EF4-FFF2-40B4-BE49-F238E27FC236}">
                <a16:creationId xmlns:a16="http://schemas.microsoft.com/office/drawing/2014/main" id="{0FEC780C-80DB-445C-8ABE-BCF515B8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kW continuos 4WD</a:t>
            </a:r>
          </a:p>
        </p:txBody>
      </p:sp>
      <p:sp>
        <p:nvSpPr>
          <p:cNvPr id="8" name="metric-15">
            <a:extLst xmlns:a="http://schemas.openxmlformats.org/drawingml/2006/main">
              <a:ext uri="{FF2B5EF4-FFF2-40B4-BE49-F238E27FC236}">
                <a16:creationId xmlns:a16="http://schemas.microsoft.com/office/drawing/2014/main" id="{EB94AE3C-7551-4FC4-B7A5-F729E1FB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metric-label-15">
            <a:extLst xmlns:a="http://schemas.openxmlformats.org/drawingml/2006/main">
              <a:ext uri="{FF2B5EF4-FFF2-40B4-BE49-F238E27FC236}">
                <a16:creationId xmlns:a16="http://schemas.microsoft.com/office/drawing/2014/main" id="{2E5BA985-B289-4E02-8F69-829602DC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kWh LFP nominales</a:t>
            </a:r>
          </a:p>
        </p:txBody>
      </p:sp>
      <p:sp>
        <p:nvSpPr>
          <p:cNvPr id="10" name="metric-1,7">
            <a:extLst xmlns:a="http://schemas.openxmlformats.org/drawingml/2006/main">
              <a:ext uri="{FF2B5EF4-FFF2-40B4-BE49-F238E27FC236}">
                <a16:creationId xmlns:a16="http://schemas.microsoft.com/office/drawing/2014/main" id="{22C02A83-B7BB-435F-A06F-98E0DB74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1,7</a:t>
            </a:r>
          </a:p>
        </p:txBody>
      </p:sp>
      <p:sp>
        <p:nvSpPr>
          <p:cNvPr id="11" name="metric-label-1,7">
            <a:extLst xmlns:a="http://schemas.openxmlformats.org/drawingml/2006/main">
              <a:ext uri="{FF2B5EF4-FFF2-40B4-BE49-F238E27FC236}">
                <a16:creationId xmlns:a16="http://schemas.microsoft.com/office/drawing/2014/main" id="{830A4734-81E9-4AF3-9995-EE828CC4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t GVWR mínimo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0B1E0E48-DC2D-49B7-BE30-0D920AB5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71E2EDC2-A20D-4EF0-91ED-C486334C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958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EB1F45C-9618-4C47-99D4-CC5E019B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429125"/>
            <a:ext cx="927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10% continua · 15% corta · pendiente lateral operativa ≤8°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7CC5B6AA-AE1E-4D05-8EFA-7C1B04BE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4825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2D1B8084-1019-4DA2-89A8-5CE2C9D1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981575"/>
            <a:ext cx="927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5 km/h normal · 8 km/h traslado · 10 km/h límite duro</a:t>
            </a:r>
          </a:p>
        </p:txBody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E2310091-B806-4429-AE87-85792484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00700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64067A33-7147-44A9-99DB-67410C67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34025"/>
            <a:ext cx="927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Carga útil 500 kg: piloto, DJ, tres pasajeros y pertenencias</a:t>
            </a:r>
          </a:p>
        </p:txBody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F5DD5D9-3F5F-4B09-AAAB-CFD4C071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DOSSIER TÉCNICO · caso de cálculo redondeado a 1.600 kg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47154C-DBC4-41BB-81CC-38E1BBB2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3534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DA4C41FB-B285-498C-9B40-F3EB0DD7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PACKAGING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3B5385-DF2C-4560-BB4A-0F911C9B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Cinco personas caben sin romper la silueta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A990156-5227-48B5-A92C-B3E2D5F9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c74189e024190"/>
          <a:srcRect xmlns:a="http://schemas.openxmlformats.org/drawingml/2006/main" l="758" t="0" r="7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476375"/>
            <a:ext cx="6191250" cy="4191000"/>
          </a:xfrm>
          <a:prstGeom xmlns:a="http://schemas.openxmlformats.org/drawingml/2006/main" prst="roundRect">
            <a:avLst>
              <a:gd name="adj" fmla="val 40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08F25-389D-4635-89D6-94C608C0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band-rule-1">
            <a:extLst xmlns:a="http://schemas.openxmlformats.org/drawingml/2006/main">
              <a:ext uri="{FF2B5EF4-FFF2-40B4-BE49-F238E27FC236}">
                <a16:creationId xmlns:a16="http://schemas.microsoft.com/office/drawing/2014/main" id="{D185ACF8-DECD-48F9-B809-0CB11D3D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039B3-C643-456E-AD42-55A5745E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14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Cabeza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3D57C-0951-426E-A668-3C12C3E2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Piloto oculto; visión directa frontal y lateral.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250D6-E744-41A1-A628-F1A1189B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band-rule-2">
            <a:extLst xmlns:a="http://schemas.openxmlformats.org/drawingml/2006/main">
              <a:ext uri="{FF2B5EF4-FFF2-40B4-BE49-F238E27FC236}">
                <a16:creationId xmlns:a16="http://schemas.microsoft.com/office/drawing/2014/main" id="{113CA82E-C097-4D72-B39E-9D757D40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289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6039B-57FC-4F40-8157-00739EBA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57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F8B3D-BD52-4273-B37A-DDDC4604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DJ semi-sentado; sub e inversor bajos.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83120-342C-4533-AB8F-07129982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band-rule-3">
            <a:extLst xmlns:a="http://schemas.openxmlformats.org/drawingml/2006/main">
              <a:ext uri="{FF2B5EF4-FFF2-40B4-BE49-F238E27FC236}">
                <a16:creationId xmlns:a16="http://schemas.microsoft.com/office/drawing/2014/main" id="{91D7C8AF-AAE7-42EB-B221-5E5AD571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5A168-B505-49FF-B8D4-AC521533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00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Cuerpo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5E395-F170-4E46-B3D7-5F7EAB97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Tres pasajeros; acceso ≥900 mm; egreso ≥750 mm.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5222C-5E87-499D-891D-791BEDDA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band-rule-4">
            <a:extLst xmlns:a="http://schemas.openxmlformats.org/drawingml/2006/main">
              <a:ext uri="{FF2B5EF4-FFF2-40B4-BE49-F238E27FC236}">
                <a16:creationId xmlns:a16="http://schemas.microsoft.com/office/drawing/2014/main" id="{6898A831-8613-4D0D-80B5-D316F632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D898C-731F-4ED4-BBE4-0D3A565F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43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5DF30-DE5B-4A31-BEC6-76E298E6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Escamas livianas, abiertas y desmontables.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152CB-E353-499D-81ED-77C3D22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810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3,85–3,95 m × 1,90–1,95 m × ≤2,40 m</a:t>
            </a:r>
          </a:p>
        </p:txBody>
      </p:sp>
      <p:sp>
        <p:nvSpPr>
          <p:cNvPr id="2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8B2B336-E030-47CB-9364-DD8291B4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EB2C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EB2C0"/>
                </a:solidFill>
                <a:latin typeface="Arial"/>
                <a:ea typeface="Arial"/>
                <a:cs typeface="Arial"/>
              </a:rPr>
              <a:t>DOSSIER TÉCNICO · visual conceptual, no plano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3231B9-D3B9-436F-BC60-6E8DCD05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38764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CF28DDFA-3DC7-4936-BD5E-5465C93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MASA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D09A27-E3F8-436B-9EF2-7326250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El donor debe certificar 1,7 t de GVWR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FCCD7F3-A261-4D19-90EC-C302CB64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ss-0">
            <a:extLst xmlns:a="http://schemas.openxmlformats.org/drawingml/2006/main">
              <a:ext uri="{FF2B5EF4-FFF2-40B4-BE49-F238E27FC236}">
                <a16:creationId xmlns:a16="http://schemas.microsoft.com/office/drawing/2014/main" id="{9BB2F06C-A793-4988-96CD-39382F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588624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6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8F87B-FDF8-4DAD-99F7-B3CB7082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351242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550 kg</a:t>
            </a:r>
          </a:p>
        </p:txBody>
      </p:sp>
      <p:sp>
        <p:nvSpPr>
          <p:cNvPr id="6" name="mass-1">
            <a:extLst xmlns:a="http://schemas.openxmlformats.org/drawingml/2006/main">
              <a:ext uri="{FF2B5EF4-FFF2-40B4-BE49-F238E27FC236}">
                <a16:creationId xmlns:a16="http://schemas.microsoft.com/office/drawing/2014/main" id="{CA48F42C-C56E-4738-B843-E6EB8BA6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624" y="2286000"/>
            <a:ext cx="880844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1A4C4-EF2E-46A3-869A-AAACBA9C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724" y="2590800"/>
            <a:ext cx="8046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135 kg</a:t>
            </a:r>
          </a:p>
        </p:txBody>
      </p:sp>
      <p:sp>
        <p:nvSpPr>
          <p:cNvPr id="8" name="mass-2">
            <a:extLst xmlns:a="http://schemas.openxmlformats.org/drawingml/2006/main">
              <a:ext uri="{FF2B5EF4-FFF2-40B4-BE49-F238E27FC236}">
                <a16:creationId xmlns:a16="http://schemas.microsoft.com/office/drawing/2014/main" id="{7355F5BB-4204-495A-9C9E-52C91AEA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468" y="2286000"/>
            <a:ext cx="1109211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A64D0-0ACB-4689-ADC2-4BA980A1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568" y="2590800"/>
            <a:ext cx="103301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170 kg</a:t>
            </a:r>
          </a:p>
        </p:txBody>
      </p:sp>
      <p:sp>
        <p:nvSpPr>
          <p:cNvPr id="10" name="mass-3">
            <a:extLst xmlns:a="http://schemas.openxmlformats.org/drawingml/2006/main">
              <a:ext uri="{FF2B5EF4-FFF2-40B4-BE49-F238E27FC236}">
                <a16:creationId xmlns:a16="http://schemas.microsoft.com/office/drawing/2014/main" id="{6A5A6F54-3776-4294-B924-70E9E0F6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679" y="2286000"/>
            <a:ext cx="554606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ss-4">
            <a:extLst xmlns:a="http://schemas.openxmlformats.org/drawingml/2006/main">
              <a:ext uri="{FF2B5EF4-FFF2-40B4-BE49-F238E27FC236}">
                <a16:creationId xmlns:a16="http://schemas.microsoft.com/office/drawing/2014/main" id="{24F19E3E-D4C5-416A-908A-1FC256C2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5284" y="2286000"/>
            <a:ext cx="10439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66B6C-4FEA-4707-841E-C98A93C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384" y="2590800"/>
            <a:ext cx="967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160 kg</a:t>
            </a:r>
          </a:p>
        </p:txBody>
      </p:sp>
      <p:sp>
        <p:nvSpPr>
          <p:cNvPr id="13" name="mass-5">
            <a:extLst xmlns:a="http://schemas.openxmlformats.org/drawingml/2006/main">
              <a:ext uri="{FF2B5EF4-FFF2-40B4-BE49-F238E27FC236}">
                <a16:creationId xmlns:a16="http://schemas.microsoft.com/office/drawing/2014/main" id="{693D7FC1-69F1-425A-8B21-EC16ABEE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248" y="2286000"/>
            <a:ext cx="228367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ss-6">
            <a:extLst xmlns:a="http://schemas.openxmlformats.org/drawingml/2006/main">
              <a:ext uri="{FF2B5EF4-FFF2-40B4-BE49-F238E27FC236}">
                <a16:creationId xmlns:a16="http://schemas.microsoft.com/office/drawing/2014/main" id="{A156123E-5043-492A-A0C5-127CCD7B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15" y="2286000"/>
            <a:ext cx="326238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C9CD3-5E28-4F22-BB82-6FA0F595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715" y="2590800"/>
            <a:ext cx="318618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500 kg</a:t>
            </a:r>
          </a:p>
        </p:txBody>
      </p:sp>
      <p:sp>
        <p:nvSpPr>
          <p:cNvPr id="16" name="mass-key-0">
            <a:extLst xmlns:a="http://schemas.openxmlformats.org/drawingml/2006/main">
              <a:ext uri="{FF2B5EF4-FFF2-40B4-BE49-F238E27FC236}">
                <a16:creationId xmlns:a16="http://schemas.microsoft.com/office/drawing/2014/main" id="{E65EE9CB-C64E-48B8-A704-AC05399B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433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6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ABC55-3581-44A5-ABF4-06B4C58E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Rolling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BEA3F-1A1B-4837-8669-185CB851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550 kg</a:t>
            </a:r>
          </a:p>
        </p:txBody>
      </p:sp>
      <p:sp>
        <p:nvSpPr>
          <p:cNvPr id="19" name="mass-key-1">
            <a:extLst xmlns:a="http://schemas.openxmlformats.org/drawingml/2006/main">
              <a:ext uri="{FF2B5EF4-FFF2-40B4-BE49-F238E27FC236}">
                <a16:creationId xmlns:a16="http://schemas.microsoft.com/office/drawing/2014/main" id="{B839C01A-650F-4460-AE6E-B7B319A5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E6653-24FA-47F7-B523-C33BAB6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Batería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5B0D5-3536-48F5-B082-9F8954BE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052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135 kg</a:t>
            </a:r>
          </a:p>
        </p:txBody>
      </p:sp>
      <p:sp>
        <p:nvSpPr>
          <p:cNvPr id="22" name="mass-key-2">
            <a:extLst xmlns:a="http://schemas.openxmlformats.org/drawingml/2006/main">
              <a:ext uri="{FF2B5EF4-FFF2-40B4-BE49-F238E27FC236}">
                <a16:creationId xmlns:a16="http://schemas.microsoft.com/office/drawing/2014/main" id="{176D3BD2-A02B-4FE1-A5E5-27E4DEFE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433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96988-A0E6-4099-B829-26B3E809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Estructura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BD571-55D7-4B0F-9526-F31CE341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052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170 kg</a:t>
            </a:r>
          </a:p>
        </p:txBody>
      </p:sp>
      <p:sp>
        <p:nvSpPr>
          <p:cNvPr id="25" name="mass-key-3">
            <a:extLst xmlns:a="http://schemas.openxmlformats.org/drawingml/2006/main">
              <a:ext uri="{FF2B5EF4-FFF2-40B4-BE49-F238E27FC236}">
                <a16:creationId xmlns:a16="http://schemas.microsoft.com/office/drawing/2014/main" id="{AB7160C6-FB96-4D87-AA5E-3664B412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9275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78DC5-FB6B-4D4D-BAF4-0A1B4A18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Arte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180A44-F3A3-48AA-B2C2-19A018E0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052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85 kg</a:t>
            </a:r>
          </a:p>
        </p:txBody>
      </p:sp>
      <p:sp>
        <p:nvSpPr>
          <p:cNvPr id="28" name="mass-key-4">
            <a:extLst xmlns:a="http://schemas.openxmlformats.org/drawingml/2006/main">
              <a:ext uri="{FF2B5EF4-FFF2-40B4-BE49-F238E27FC236}">
                <a16:creationId xmlns:a16="http://schemas.microsoft.com/office/drawing/2014/main" id="{7521910D-3835-48D4-A91A-886CE37F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006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866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83ECC5-A248-4ED8-BC39-190531BD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Audio / DJ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EC5E31-94DF-46CF-8BEB-C3225F8C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160 kg</a:t>
            </a:r>
          </a:p>
        </p:txBody>
      </p:sp>
      <p:sp>
        <p:nvSpPr>
          <p:cNvPr id="31" name="mass-key-5">
            <a:extLst xmlns:a="http://schemas.openxmlformats.org/drawingml/2006/main">
              <a:ext uri="{FF2B5EF4-FFF2-40B4-BE49-F238E27FC236}">
                <a16:creationId xmlns:a16="http://schemas.microsoft.com/office/drawing/2014/main" id="{5D16730E-E623-4F15-ACC1-B37DA13A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27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A8E1F6-0DD0-4F5E-B40E-E07A3D1E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Luces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741298-F8B4-4C50-805A-B033D398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7625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35 kg</a:t>
            </a:r>
          </a:p>
        </p:txBody>
      </p:sp>
      <p:sp>
        <p:nvSpPr>
          <p:cNvPr id="34" name="mass-key-6">
            <a:extLst xmlns:a="http://schemas.openxmlformats.org/drawingml/2006/main">
              <a:ext uri="{FF2B5EF4-FFF2-40B4-BE49-F238E27FC236}">
                <a16:creationId xmlns:a16="http://schemas.microsoft.com/office/drawing/2014/main" id="{4FF6FECC-E159-475C-BBA2-F1D14C0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006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E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D43EB5-9A2E-4413-AE6E-5AE12352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Carga útil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7EFCE1-F54C-4480-93E3-6A05E147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500 kg</a:t>
            </a:r>
          </a:p>
        </p:txBody>
      </p:sp>
      <p:sp>
        <p:nvSpPr>
          <p:cNvPr id="37" name="mass-gate">
            <a:extLst xmlns:a="http://schemas.openxmlformats.org/drawingml/2006/main">
              <a:ext uri="{FF2B5EF4-FFF2-40B4-BE49-F238E27FC236}">
                <a16:creationId xmlns:a16="http://schemas.microsoft.com/office/drawing/2014/main" id="{EE8A4231-5DFA-4467-A4CA-B1B8F759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CEF88C-2B25-4F9E-8A77-6E94C2CA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Gate: tara ≤1.200 kg · masa operativa ≤1.700 kg · CG cargado ≤0,75 m</a:t>
            </a:r>
          </a:p>
        </p:txBody>
      </p:sp>
      <p:sp>
        <p:nvSpPr>
          <p:cNvPr id="3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1C5EF4E-1EF5-4A55-803E-C3634B5C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DOSSIER TÉCNICO · masa preliminar</a:t>
            </a:r>
          </a:p>
        </p:txBody>
      </p:sp>
      <p:sp>
        <p:nvSpPr>
          <p:cNvPr id="4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8399D2-CF37-451A-9C4C-10AB2E18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1051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C0634A1-A9A3-4C21-9E1F-630B62CD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TRACCIÓN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6AB6E6-67E9-496B-9CBC-AE423E95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 kW cubren barro y pendiente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9CA331F-2016-4106-821E-FC7F4DD0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7715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b3bb863d31485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B60F8-C9B8-438B-A009-E00E96F3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4WD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11F0B-2DEA-4E58-832B-3E4E786C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es opcional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04310-6007-42DF-B852-110B156C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52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Con µ = 0,25, el límite ideal 4WD apenas alcanza el peor caso. En 2WD queda ~5,8% de pendiente residual sobre húmedo.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C8D5137-AA91-4665-80E0-0F1DD450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EB2C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EB2C0"/>
                </a:solidFill>
                <a:latin typeface="Arial"/>
                <a:ea typeface="Arial"/>
                <a:cs typeface="Arial"/>
              </a:rPr>
              <a:t>DOSSIER TÉCNICO · m=1.600 kg · η=0,75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77CA3C-EFB8-48F5-AF6F-5201EBD3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4359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D5F7501A-3104-48D8-9048-DD5DBCB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ENERGÍA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D5C3D8-1CD3-413F-ABAF-4E066EE4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15 kWh dejan 1,5 kWh de margen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C185AB-3A83-4312-8C61-BA600CF1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a21010671e4e24"/>
          </a:graphicData>
        </a:graphic>
      </p:graphicFrame>
      <p:sp>
        <p:nvSpPr>
          <p:cNvPr id="5" name="metric-10,2">
            <a:extLst xmlns:a="http://schemas.openxmlformats.org/drawingml/2006/main">
              <a:ext uri="{FF2B5EF4-FFF2-40B4-BE49-F238E27FC236}">
                <a16:creationId xmlns:a16="http://schemas.microsoft.com/office/drawing/2014/main" id="{B9D8CE5D-DC96-4FE4-BFD2-5EE6F014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573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10,2</a:t>
            </a:r>
          </a:p>
        </p:txBody>
      </p:sp>
      <p:sp>
        <p:nvSpPr>
          <p:cNvPr id="6" name="metric-label-10,2">
            <a:extLst xmlns:a="http://schemas.openxmlformats.org/drawingml/2006/main">
              <a:ext uri="{FF2B5EF4-FFF2-40B4-BE49-F238E27FC236}">
                <a16:creationId xmlns:a16="http://schemas.microsoft.com/office/drawing/2014/main" id="{DB466E6D-3300-4CE9-8804-BC95CB1C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003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kWh utilizables con 20% SOC y 15% derating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AAAC3-1E81-4769-A525-DD46F561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Deslastre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2038B247-ED1B-4574-8EBE-BFF137E9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291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74F0BA11-18B4-41D0-B186-AAC56348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62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Audio primero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81305E8B-9059-433C-803A-54307AAA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244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43EA5059-AA6F-452E-AA2A-DF7E18CA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577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Arte después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CE9DA3DA-0087-4B8A-A2AA-B2DE3450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97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CBB05E1-856F-4F4A-91AF-CCF32477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530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Seguridad nunca</a:t>
            </a:r>
          </a:p>
        </p:txBody>
      </p:sp>
      <p:sp>
        <p:nvSpPr>
          <p:cNvPr id="1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A5DA90F-073A-41F4-B51B-7FD056F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DOSSIER TÉCNICO · auxiliares 1,45 kW promedio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4CC5F16-74A6-4A1B-89C3-5660E51E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8951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02588413-CC57-448A-8C7D-31B5FCB6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A7F597-F1FE-4B48-BD4B-B349E81C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audio puede fallar sin apagar seguridad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82FB030-3684-4A95-8CE9-65CE80AE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n-main">
            <a:extLst xmlns:a="http://schemas.openxmlformats.org/drawingml/2006/main">
              <a:ext uri="{FF2B5EF4-FFF2-40B4-BE49-F238E27FC236}">
                <a16:creationId xmlns:a16="http://schemas.microsoft.com/office/drawing/2014/main" id="{DBE0EF72-0344-4D9C-8ABC-7E73A4DA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n-vertical">
            <a:extLst xmlns:a="http://schemas.openxmlformats.org/drawingml/2006/main">
              <a:ext uri="{FF2B5EF4-FFF2-40B4-BE49-F238E27FC236}">
                <a16:creationId xmlns:a16="http://schemas.microsoft.com/office/drawing/2014/main" id="{637FAC3C-F620-48CB-B544-4C825071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81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n-top">
            <a:extLst xmlns:a="http://schemas.openxmlformats.org/drawingml/2006/main">
              <a:ext uri="{FF2B5EF4-FFF2-40B4-BE49-F238E27FC236}">
                <a16:creationId xmlns:a16="http://schemas.microsoft.com/office/drawing/2014/main" id="{E73EF969-3F74-4B30-9B57-154AC361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n-mid">
            <a:extLst xmlns:a="http://schemas.openxmlformats.org/drawingml/2006/main">
              <a:ext uri="{FF2B5EF4-FFF2-40B4-BE49-F238E27FC236}">
                <a16:creationId xmlns:a16="http://schemas.microsoft.com/office/drawing/2014/main" id="{BCFF4422-543A-436D-813B-CD5DBA8C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n-bottom">
            <a:extLst xmlns:a="http://schemas.openxmlformats.org/drawingml/2006/main">
              <a:ext uri="{FF2B5EF4-FFF2-40B4-BE49-F238E27FC236}">
                <a16:creationId xmlns:a16="http://schemas.microsoft.com/office/drawing/2014/main" id="{92A553E5-24C4-481A-ACBE-45CCF7FC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n-top-out">
            <a:extLst xmlns:a="http://schemas.openxmlformats.org/drawingml/2006/main">
              <a:ext uri="{FF2B5EF4-FFF2-40B4-BE49-F238E27FC236}">
                <a16:creationId xmlns:a16="http://schemas.microsoft.com/office/drawing/2014/main" id="{69F8FC93-B5DB-4006-B629-69DE64E8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nn-mid-out">
            <a:extLst xmlns:a="http://schemas.openxmlformats.org/drawingml/2006/main">
              <a:ext uri="{FF2B5EF4-FFF2-40B4-BE49-F238E27FC236}">
                <a16:creationId xmlns:a16="http://schemas.microsoft.com/office/drawing/2014/main" id="{C77ECD96-C2B7-4F5E-B2C5-7B7E87DF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nn-bottom-out">
            <a:extLst xmlns:a="http://schemas.openxmlformats.org/drawingml/2006/main">
              <a:ext uri="{FF2B5EF4-FFF2-40B4-BE49-F238E27FC236}">
                <a16:creationId xmlns:a16="http://schemas.microsoft.com/office/drawing/2014/main" id="{04B103E5-3FBE-473C-B1F6-80FDAA61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86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node-0">
            <a:extLst xmlns:a="http://schemas.openxmlformats.org/drawingml/2006/main">
              <a:ext uri="{FF2B5EF4-FFF2-40B4-BE49-F238E27FC236}">
                <a16:creationId xmlns:a16="http://schemas.microsoft.com/office/drawing/2014/main" id="{45752158-722E-4CDE-B928-1F7EAD13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286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E2637"/>
          </a:solidFill>
          <a:ln xmlns:a="http://schemas.openxmlformats.org/drawingml/2006/main" w="9525">
            <a:solidFill>
              <a:srgbClr val="456172"/>
            </a:solidFill>
            <a:prstDash val="solid"/>
          </a:ln>
        </p:spPr>
      </p:sp>
      <p:sp>
        <p:nvSpPr>
          <p:cNvPr id="13" name="arch-accent-0">
            <a:extLst xmlns:a="http://schemas.openxmlformats.org/drawingml/2006/main">
              <a:ext uri="{FF2B5EF4-FFF2-40B4-BE49-F238E27FC236}">
                <a16:creationId xmlns:a16="http://schemas.microsoft.com/office/drawing/2014/main" id="{D140FC3D-B45E-48D4-B758-D259C804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C8EF2-01CA-42ED-937A-223342B1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146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LFP 72 V · 15 kWh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41ED4-68E0-46AF-A4C1-37E71CC9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146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BMS · fusible · precharge · contactor</a:t>
            </a:r>
          </a:p>
        </p:txBody>
      </p:sp>
      <p:sp>
        <p:nvSpPr>
          <p:cNvPr id="16" name="arch-node-1">
            <a:extLst xmlns:a="http://schemas.openxmlformats.org/drawingml/2006/main">
              <a:ext uri="{FF2B5EF4-FFF2-40B4-BE49-F238E27FC236}">
                <a16:creationId xmlns:a16="http://schemas.microsoft.com/office/drawing/2014/main" id="{0BDF01CD-DFEB-4300-99DD-F9175A05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76375"/>
            <a:ext cx="242887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0E2637"/>
          </a:solidFill>
          <a:ln xmlns:a="http://schemas.openxmlformats.org/drawingml/2006/main" w="9525">
            <a:solidFill>
              <a:srgbClr val="456172"/>
            </a:solidFill>
            <a:prstDash val="solid"/>
          </a:ln>
        </p:spPr>
      </p:sp>
      <p:sp>
        <p:nvSpPr>
          <p:cNvPr id="17" name="arch-accent-1">
            <a:extLst xmlns:a="http://schemas.openxmlformats.org/drawingml/2006/main">
              <a:ext uri="{FF2B5EF4-FFF2-40B4-BE49-F238E27FC236}">
                <a16:creationId xmlns:a16="http://schemas.microsoft.com/office/drawing/2014/main" id="{29AB3680-1CEF-49DE-B5EE-8DE79EB4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7637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91CE3-BC82-48B0-96CD-B885B7D5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6687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Tracción 4WD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77BCD-D0E8-4B4B-AF66-DEDA2F39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6692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12 kW continuos</a:t>
            </a:r>
          </a:p>
        </p:txBody>
      </p:sp>
      <p:sp>
        <p:nvSpPr>
          <p:cNvPr id="20" name="arch-node-2">
            <a:extLst xmlns:a="http://schemas.openxmlformats.org/drawingml/2006/main">
              <a:ext uri="{FF2B5EF4-FFF2-40B4-BE49-F238E27FC236}">
                <a16:creationId xmlns:a16="http://schemas.microsoft.com/office/drawing/2014/main" id="{3E61BB90-76A3-447D-86B1-74E13B6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19375"/>
            <a:ext cx="242887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0E2637"/>
          </a:solidFill>
          <a:ln xmlns:a="http://schemas.openxmlformats.org/drawingml/2006/main" w="9525">
            <a:solidFill>
              <a:srgbClr val="456172"/>
            </a:solidFill>
            <a:prstDash val="solid"/>
          </a:ln>
        </p:spPr>
      </p:sp>
      <p:sp>
        <p:nvSpPr>
          <p:cNvPr id="21" name="arch-accent-2">
            <a:extLst xmlns:a="http://schemas.openxmlformats.org/drawingml/2006/main">
              <a:ext uri="{FF2B5EF4-FFF2-40B4-BE49-F238E27FC236}">
                <a16:creationId xmlns:a16="http://schemas.microsoft.com/office/drawing/2014/main" id="{34D7C743-9C1F-43E3-93B2-16538DAF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1937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BA444-111F-4EBF-8D27-8A427F33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0987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 12/24 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65C08-CBFA-4D22-BE53-6CE7FF44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0992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E-stops · luces · radio</a:t>
            </a:r>
          </a:p>
        </p:txBody>
      </p:sp>
      <p:sp>
        <p:nvSpPr>
          <p:cNvPr id="2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A76A3D1A-6197-4989-A06F-005C7A3E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62375"/>
            <a:ext cx="242887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0E2637"/>
          </a:solidFill>
          <a:ln xmlns:a="http://schemas.openxmlformats.org/drawingml/2006/main" w="9525">
            <a:solidFill>
              <a:srgbClr val="456172"/>
            </a:solidFill>
            <a:prstDash val="solid"/>
          </a:ln>
        </p:spPr>
      </p:sp>
      <p:sp>
        <p:nvSpPr>
          <p:cNvPr id="25" name="arch-accent-3">
            <a:extLst xmlns:a="http://schemas.openxmlformats.org/drawingml/2006/main">
              <a:ext uri="{FF2B5EF4-FFF2-40B4-BE49-F238E27FC236}">
                <a16:creationId xmlns:a16="http://schemas.microsoft.com/office/drawing/2014/main" id="{01B6281C-DB0B-4410-A088-29FB44A3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6237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0A6440-D943-4D8F-B6FB-6053C6B0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95287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DJ + audio 230 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D6057-8882-4DBC-A99F-7BE0D7B5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35292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Contactor · inversor · RCD</a:t>
            </a:r>
          </a:p>
        </p:txBody>
      </p:sp>
      <p:sp>
        <p:nvSpPr>
          <p:cNvPr id="28" name="arch-node-4">
            <a:extLst xmlns:a="http://schemas.openxmlformats.org/drawingml/2006/main">
              <a:ext uri="{FF2B5EF4-FFF2-40B4-BE49-F238E27FC236}">
                <a16:creationId xmlns:a16="http://schemas.microsoft.com/office/drawing/2014/main" id="{9100C172-4476-4963-84C9-EF44DF46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7637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0E2637"/>
          </a:solidFill>
          <a:ln xmlns:a="http://schemas.openxmlformats.org/drawingml/2006/main" w="9525">
            <a:solidFill>
              <a:srgbClr val="456172"/>
            </a:solidFill>
            <a:prstDash val="solid"/>
          </a:ln>
        </p:spPr>
      </p:sp>
      <p:sp>
        <p:nvSpPr>
          <p:cNvPr id="29" name="arch-accent-4">
            <a:extLst xmlns:a="http://schemas.openxmlformats.org/drawingml/2006/main">
              <a:ext uri="{FF2B5EF4-FFF2-40B4-BE49-F238E27FC236}">
                <a16:creationId xmlns:a16="http://schemas.microsoft.com/office/drawing/2014/main" id="{1504CC27-7F21-4961-B334-2C4B14D8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7637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4B1891-2854-44E2-B8AE-F380B93D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666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Motores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629CAA-BD86-4A0C-8035-9E07DF26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0669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Torque cero ante falla</a:t>
            </a:r>
          </a:p>
        </p:txBody>
      </p:sp>
      <p:sp>
        <p:nvSpPr>
          <p:cNvPr id="32" name="arch-node-5">
            <a:extLst xmlns:a="http://schemas.openxmlformats.org/drawingml/2006/main">
              <a:ext uri="{FF2B5EF4-FFF2-40B4-BE49-F238E27FC236}">
                <a16:creationId xmlns:a16="http://schemas.microsoft.com/office/drawing/2014/main" id="{BA7C5E2E-6E7C-41F1-ACFD-A9DBE78E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1937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0E2637"/>
          </a:solidFill>
          <a:ln xmlns:a="http://schemas.openxmlformats.org/drawingml/2006/main" w="9525">
            <a:solidFill>
              <a:srgbClr val="456172"/>
            </a:solidFill>
            <a:prstDash val="solid"/>
          </a:ln>
        </p:spPr>
      </p:sp>
      <p:sp>
        <p:nvSpPr>
          <p:cNvPr id="33" name="arch-accent-5">
            <a:extLst xmlns:a="http://schemas.openxmlformats.org/drawingml/2006/main">
              <a:ext uri="{FF2B5EF4-FFF2-40B4-BE49-F238E27FC236}">
                <a16:creationId xmlns:a16="http://schemas.microsoft.com/office/drawing/2014/main" id="{58948DD0-4C57-49B3-B8F5-5ACEE64C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1937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207818-F7B4-43AE-A3D7-62A82DBA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809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Función vital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5FACFA-9381-4C37-A794-7E614E4B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2099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Permanece encendida</a:t>
            </a:r>
          </a:p>
        </p:txBody>
      </p:sp>
      <p:sp>
        <p:nvSpPr>
          <p:cNvPr id="36" name="arch-node-6">
            <a:extLst xmlns:a="http://schemas.openxmlformats.org/drawingml/2006/main">
              <a:ext uri="{FF2B5EF4-FFF2-40B4-BE49-F238E27FC236}">
                <a16:creationId xmlns:a16="http://schemas.microsoft.com/office/drawing/2014/main" id="{4133D9B8-E1AB-4745-A951-C96E9840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62375"/>
            <a:ext cx="18097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0E2637"/>
          </a:solidFill>
          <a:ln xmlns:a="http://schemas.openxmlformats.org/drawingml/2006/main" w="9525">
            <a:solidFill>
              <a:srgbClr val="456172"/>
            </a:solidFill>
            <a:prstDash val="solid"/>
          </a:ln>
        </p:spPr>
      </p:sp>
      <p:sp>
        <p:nvSpPr>
          <p:cNvPr id="37" name="arch-accent-6">
            <a:extLst xmlns:a="http://schemas.openxmlformats.org/drawingml/2006/main">
              <a:ext uri="{FF2B5EF4-FFF2-40B4-BE49-F238E27FC236}">
                <a16:creationId xmlns:a16="http://schemas.microsoft.com/office/drawing/2014/main" id="{3466D87E-2475-4BAF-958D-6BAA6AFC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6237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008DE6-4343-4F9B-814A-93BD087C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952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Carga flexible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15B9BC-02EE-4A17-ABAA-E0358902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3529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FD1D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FD1DA"/>
                </a:solidFill>
                <a:latin typeface="Arial"/>
                <a:ea typeface="Arial"/>
                <a:cs typeface="Arial"/>
              </a:rPr>
              <a:t>Mute + límite SOC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7F31DA-7CF1-4463-8E10-23D1C47F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E-stop corta tracción en ≤0,5 s; las luces y la radio continúan.</a:t>
            </a:r>
          </a:p>
        </p:txBody>
      </p:sp>
      <p:sp>
        <p:nvSpPr>
          <p:cNvPr id="4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89D067C-B89C-4D2E-A04E-22FA9377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EB2C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EB2C0"/>
                </a:solidFill>
                <a:latin typeface="Arial"/>
                <a:ea typeface="Arial"/>
                <a:cs typeface="Arial"/>
              </a:rPr>
              <a:t>DOSSIER TÉCNICO · diagrama funcional preliminar</a:t>
            </a:r>
          </a:p>
        </p:txBody>
      </p:sp>
      <p:sp>
        <p:nvSpPr>
          <p:cNvPr id="4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C85B88B-416D-46BC-82B9-F172E954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9756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D3CCD922-2166-441B-A41E-89D259E8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5E603F-9E77-4DB0-B059-7F847635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Frenos y egresos mandan el detalle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C1C3469-5C80-445B-8578-DABF224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9EE52-66B0-49A5-BCAE-7D035FD5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band-rule-1">
            <a:extLst xmlns:a="http://schemas.openxmlformats.org/drawingml/2006/main">
              <a:ext uri="{FF2B5EF4-FFF2-40B4-BE49-F238E27FC236}">
                <a16:creationId xmlns:a16="http://schemas.microsoft.com/office/drawing/2014/main" id="{0AE01079-B649-406B-AE43-17EE8888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4F367-EE0D-4669-905A-D8ABAF0A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66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Frenos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4E4D1-DBC9-4CE4-A0BA-52092FA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Hidráulicos en 4 ruedas; parking mecánico; no depender de regeneración.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C6767-6EC6-458B-BE15-A4103EF1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band-rule-2">
            <a:extLst xmlns:a="http://schemas.openxmlformats.org/drawingml/2006/main">
              <a:ext uri="{FF2B5EF4-FFF2-40B4-BE49-F238E27FC236}">
                <a16:creationId xmlns:a16="http://schemas.microsoft.com/office/drawing/2014/main" id="{7170A2A9-48A8-43AC-8F4D-EFD0ACEC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476FC-3BEE-42F1-AB1C-4244CB06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67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Dirección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C8885-60D8-4022-A789-CCB86F04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Mecánica con EPS; pérdida de señal = torque cero.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66A9A-C4D5-4C8D-BCFD-2B2D4D0A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band-rule-3">
            <a:extLst xmlns:a="http://schemas.openxmlformats.org/drawingml/2006/main">
              <a:ext uri="{FF2B5EF4-FFF2-40B4-BE49-F238E27FC236}">
                <a16:creationId xmlns:a16="http://schemas.microsoft.com/office/drawing/2014/main" id="{C2E11C96-AB1C-4317-AD17-C5CA7CDC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3857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DE2DA-B190-44BD-9829-C7AF7357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671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Ocupantes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7E3C3-5DBC-48EE-9C4F-8AA083D8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6712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Todos contenidos; DJ semi-sentado; ninguna persona de pie.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0F1C9-E7C5-4866-8C62-480F933A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band-rule-4">
            <a:extLst xmlns:a="http://schemas.openxmlformats.org/drawingml/2006/main">
              <a:ext uri="{FF2B5EF4-FFF2-40B4-BE49-F238E27FC236}">
                <a16:creationId xmlns:a16="http://schemas.microsoft.com/office/drawing/2014/main" id="{DFC8EDAF-3ABF-48E8-83E8-5B2F6F27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15D25-97A4-440B-86B6-72D3B29E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672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Egresos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04711-B32F-47E3-A071-CD3BDDFE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Principal ≥900 mm; secundario ≥750 mm; salida completa ≤15 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C9111-442F-4318-A6B0-CFF4F59D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Objetivos SAT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396455-F10C-4023-A338-ADA7605A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81675"/>
            <a:ext cx="833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≤1,5 m seco · ≤2,0 m mojado · parking 20% · lateral operativa ≤8°</a:t>
            </a:r>
          </a:p>
        </p:txBody>
      </p:sp>
      <p:sp>
        <p:nvSpPr>
          <p:cNvPr id="2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A18C455-43BD-4B1A-93BB-70B67300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DOSSIER TÉCNICO · criterios de anteproyecto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9FBBD15-297E-4403-9861-0941DC01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969589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C1C6311B-B09F-4F95-93B3-AD931B6E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SCREENING DE PRODUCTOS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DCCE2C-4A4B-4680-967D-FB0AB4FE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Los tres links todavía no son comprables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5A967EE-DF53-4A79-B6BB-F3035B0B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28171-DD87-4EB2-86BB-BED4740D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band-rule-1">
            <a:extLst xmlns:a="http://schemas.openxmlformats.org/drawingml/2006/main">
              <a:ext uri="{FF2B5EF4-FFF2-40B4-BE49-F238E27FC236}">
                <a16:creationId xmlns:a16="http://schemas.microsoft.com/office/drawing/2014/main" id="{C4C64460-0158-4A46-BF51-88219B48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0485C-ABD2-4822-9186-259BFA3F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66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Wire-control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24E3A-CEDD-4C83-87CB-4E50DDAD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≈USD 530 · sin masa, GVWR, frenos ni 4WD verificable.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9AFC8-2422-4772-ACAB-986D6BE7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band-rule-2">
            <a:extLst xmlns:a="http://schemas.openxmlformats.org/drawingml/2006/main">
              <a:ext uri="{FF2B5EF4-FFF2-40B4-BE49-F238E27FC236}">
                <a16:creationId xmlns:a16="http://schemas.microsoft.com/office/drawing/2014/main" id="{68119C15-07EA-4872-BDFF-7711FCCB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813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C77F1-48A5-4975-985A-742661F0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09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Orugas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BB0EF-EF86-43DA-9BAA-FC89901C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987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Ficha crítica incompleta · mayor masa, transporte y mantenimiento.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C870C-21E6-49AD-9967-2A62ADBD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5E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5E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band-rule-3">
            <a:extLst xmlns:a="http://schemas.openxmlformats.org/drawingml/2006/main">
              <a:ext uri="{FF2B5EF4-FFF2-40B4-BE49-F238E27FC236}">
                <a16:creationId xmlns:a16="http://schemas.microsoft.com/office/drawing/2014/main" id="{999480DD-E984-4A0B-8D0B-FEFFF59E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243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11DB2-AF7D-49D4-B12E-B835CCB3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52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Eje 2 kW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0D33F-92BD-402F-A602-D5FE5EEC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5287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2 kW insuficientes · “900 kg” no define payload de vehículo.</a:t>
            </a:r>
          </a:p>
        </p:txBody>
      </p:sp>
      <p:sp>
        <p:nvSpPr>
          <p:cNvPr id="16" name="screening-summary">
            <a:extLst xmlns:a="http://schemas.openxmlformats.org/drawingml/2006/main">
              <a:ext uri="{FF2B5EF4-FFF2-40B4-BE49-F238E27FC236}">
                <a16:creationId xmlns:a16="http://schemas.microsoft.com/office/drawing/2014/main" id="{3D5BA903-E782-478E-9A99-35F1EE09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29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2637"/>
          </a:solidFill>
          <a:ln xmlns:a="http://schemas.openxmlformats.org/drawingml/2006/main" w="9525">
            <a:solidFill>
              <a:srgbClr val="4561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0D26B-B53E-4C8E-A116-D8F08B03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816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 sólo con GVWR ≥1,7 t + 12 kW continuos + 4 frenos + parking mecánico + UN38.3</a:t>
            </a:r>
          </a:p>
        </p:txBody>
      </p:sp>
      <p:sp>
        <p:nvSpPr>
          <p:cNvPr id="1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3709651-F8A7-4C29-B174-9E85533C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EB2C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EB2C0"/>
                </a:solidFill>
                <a:latin typeface="Arial"/>
                <a:ea typeface="Arial"/>
                <a:cs typeface="Arial"/>
              </a:rPr>
              <a:t>DOSSIER TÉCNICO · marketplace ≠ conformidad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F66C6D9-BE8B-44FE-887B-15A69166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31283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B62D2CD7-B943-4069-BD0E-DF6B328F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IMPORTACIÓN + CAPEX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18364-57E8-4D4A-8043-28B9DC52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Costo neto y caja no son lo mismo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3AF3F2-EAB7-4BBF-9362-75203809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7AE29-B26C-46E1-95E0-B1BC6A64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USD 24,1k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755F9-3468-4FF6-B68B-516FE4DE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importado puesto en taller · neto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65952-0A22-4577-8BB7-E0160A99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+ USD 10,5k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BE306-90BA-46D8-BE01-5EE98928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tributos recuperables · caja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99082F71-D444-4707-BCBB-ADE8EC8C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38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1CC415A9-EC1F-4F4B-A566-3F6904B7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764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7564742B-2BDB-4F6C-80BD-EBEFFCC0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809750"/>
            <a:ext cx="556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FOB + documentación + repuestos: USD 14,8k</a:t>
            </a:r>
          </a:p>
        </p:txBody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3D2AA403-A272-4E03-90BC-8A69F2D6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1937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7947DAB-1AA5-4B65-83D8-F38ED024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52700"/>
            <a:ext cx="556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Flete/origen/seguro/DG: USD 2,8k</a:t>
            </a:r>
          </a:p>
        </p:txBody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D1903B0B-3B7E-4119-8E55-839773D6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623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872787E-0CF1-4B17-9422-7850E2FC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295650"/>
            <a:ext cx="556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Derecho supuesto: 18% · estadística: 3%</a:t>
            </a:r>
          </a:p>
        </p:txBody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E5D60887-24E4-4B88-AADF-A8D3C138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0527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9CC4096D-F710-4F43-A5B5-DA3BA393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038600"/>
            <a:ext cx="556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Clasificación NCM escrita antes de la PO</a:t>
            </a:r>
          </a:p>
        </p:txBody>
      </p:sp>
      <p:sp>
        <p:nvSpPr>
          <p:cNvPr id="17" name="cost-total">
            <a:extLst xmlns:a="http://schemas.openxmlformats.org/drawingml/2006/main">
              <a:ext uri="{FF2B5EF4-FFF2-40B4-BE49-F238E27FC236}">
                <a16:creationId xmlns:a16="http://schemas.microsoft.com/office/drawing/2014/main" id="{CAADFE08-2AE3-4A8D-870B-07D83E16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95875"/>
            <a:ext cx="581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EC45C-C816-43DD-99E9-54D27D3E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76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Proyecto base: USD 65,9k netos / USD 76,5k caja</a:t>
            </a:r>
          </a:p>
        </p:txBody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FA222E0-31EF-43E8-A07B-38CE4806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DOSSIER TÉCNICO · confirmar NCM, condición fiscal y tipo de cambio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865F8E-7896-44B5-9482-44D5D308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5199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6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6498C414-5400-48B1-83C0-3D50A0E5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VERIFICACIÓN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67DD9F-124B-4BBE-8C11-D1D64D9D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Nadie sube antes de cerrar once ensayos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AAA92C-19C0-42AA-AA96-0E2FA363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F3E5E-7835-4BD6-82FB-F161C164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band-rule-1">
            <a:extLst xmlns:a="http://schemas.openxmlformats.org/drawingml/2006/main">
              <a:ext uri="{FF2B5EF4-FFF2-40B4-BE49-F238E27FC236}">
                <a16:creationId xmlns:a16="http://schemas.microsoft.com/office/drawing/2014/main" id="{2286B4EE-1802-4299-91BC-B145B5FF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4307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E9BD6-DCB1-4E78-8135-131B902D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71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Ingreso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D7445-661E-4543-A9AE-2B2A59E7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Identidad · pesaje · documentos · aislamiento.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3B1FD-41B3-4C11-88E3-C237004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band-rule-2">
            <a:extLst xmlns:a="http://schemas.openxmlformats.org/drawingml/2006/main">
              <a:ext uri="{FF2B5EF4-FFF2-40B4-BE49-F238E27FC236}">
                <a16:creationId xmlns:a16="http://schemas.microsoft.com/office/drawing/2014/main" id="{61BFFED1-8659-41DE-8897-5B35476D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EB571-7715-45D5-8752-73C69A90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71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Dinámica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E0769-BC90-4FDF-80A5-DACD7F07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Frenado · pendiente · descenso · giro · E-stop.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7EE9F-1B0E-4164-A9BD-9D181BF0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band-rule-3">
            <a:extLst xmlns:a="http://schemas.openxmlformats.org/drawingml/2006/main">
              <a:ext uri="{FF2B5EF4-FFF2-40B4-BE49-F238E27FC236}">
                <a16:creationId xmlns:a16="http://schemas.microsoft.com/office/drawing/2014/main" id="{6EA92757-F9F0-4583-A149-E687EB8A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433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12AC3-173D-4A25-9C92-F70C471E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71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Arte + audio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4CC76-9941-4E00-B93D-59FA02CA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7187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Holguras · anclajes · RCD · temperatura · SPL.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00E8C-D40E-40BB-AE2C-3D764571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15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band-rule-4">
            <a:extLst xmlns:a="http://schemas.openxmlformats.org/drawingml/2006/main">
              <a:ext uri="{FF2B5EF4-FFF2-40B4-BE49-F238E27FC236}">
                <a16:creationId xmlns:a16="http://schemas.microsoft.com/office/drawing/2014/main" id="{8632AFF3-241C-490D-A27A-828B7A6F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3648D-6A36-4FB4-9E97-17E47BAA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72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837AB-739F-4A82-9364-DD5C6FCB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5 km a masa total + 25 km de durabilidad.</a:t>
            </a:r>
          </a:p>
        </p:txBody>
      </p:sp>
      <p:sp>
        <p:nvSpPr>
          <p:cNvPr id="20" name="test-gate">
            <a:extLst xmlns:a="http://schemas.openxmlformats.org/drawingml/2006/main">
              <a:ext uri="{FF2B5EF4-FFF2-40B4-BE49-F238E27FC236}">
                <a16:creationId xmlns:a16="http://schemas.microsoft.com/office/drawing/2014/main" id="{3F064BE2-E8CA-45A1-ACEF-7D0AD7B0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0429875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E2637"/>
          </a:solidFill>
          <a:ln xmlns:a="http://schemas.openxmlformats.org/drawingml/2006/main" w="9525">
            <a:solidFill>
              <a:srgbClr val="4561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A9C4B-2EF6-4DDE-BF5E-109AAA6C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 final: ≥20% SOC · sin fade · sin fisuras · sin resets · evacuación ≤15 s</a:t>
            </a:r>
          </a:p>
        </p:txBody>
      </p:sp>
      <p:sp>
        <p:nvSpPr>
          <p:cNvPr id="2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C165686-4DF4-4FF2-9FE1-FED47E0D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EB2C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EB2C0"/>
                </a:solidFill>
                <a:latin typeface="Arial"/>
                <a:ea typeface="Arial"/>
                <a:cs typeface="Arial"/>
              </a:rPr>
              <a:t>DOSSIER TÉCNICO · FAT proveedor + SAT local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22C0889-7B01-4E76-B6F0-A3113E33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207845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F0C1E-2C50-4E16-8134-5D39C659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8663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86632"/>
                </a:solidFill>
                <a:latin typeface="Arial"/>
                <a:ea typeface="Arial"/>
                <a:cs typeface="Arial"/>
              </a:rPr>
              <a:t>PRÓXIMO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A4938-E238-484B-9A2E-A6CEF016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90625"/>
            <a:ext cx="647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El RFQ debe eliminar</a:t>
            </a:r>
          </a:p>
          <a:p xmlns:a="http://schemas.openxmlformats.org/drawingml/2006/main">
            <a:pPr algn="l">
              <a:defRPr sz="3900" b="1" i="0">
                <a:solidFill>
                  <a:srgbClr val="071624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071624"/>
                </a:solidFill>
                <a:latin typeface="Arial"/>
                <a:ea typeface="Arial"/>
                <a:cs typeface="Arial"/>
              </a:rPr>
              <a:t>la incertidumbre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4F0FF4C-9637-4F5C-9C37-C149296E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000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298AE671-7FC9-4FCE-A701-36248E38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50ADAE2C-FF58-4787-B48C-9FC438BA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65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Masa, GVWR y cargas por eje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8401A238-34EA-4FAE-A940-87F2FC4B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DCC6126-C20F-46DD-8DE9-933DE8F2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565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Curvas de torque, corriente y temperatura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D36D8C2F-3F0A-47DC-B341-DD2B7894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AEA2B797-D8BE-44A0-8EEE-DE0F98A4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565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Frenos 4 ruedas y parking 20%</a:t>
            </a:r>
          </a:p>
        </p:txBody>
      </p:sp>
      <p:sp>
        <p:nvSpPr>
          <p:cNvPr id="10" name="bullet-3">
            <a:extLst xmlns:a="http://schemas.openxmlformats.org/drawingml/2006/main">
              <a:ext uri="{FF2B5EF4-FFF2-40B4-BE49-F238E27FC236}">
                <a16:creationId xmlns:a16="http://schemas.microsoft.com/office/drawing/2014/main" id="{01B9F103-3293-4A24-9534-0D019B72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85725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B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859A195-3B0A-4863-9800-1B2D1D04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565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324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32433"/>
                </a:solidFill>
                <a:latin typeface="Arial"/>
                <a:ea typeface="Arial"/>
                <a:cs typeface="Arial"/>
              </a:rPr>
              <a:t>UN38.3, esquemas, software y repuestos</a:t>
            </a:r>
          </a:p>
        </p:txBody>
      </p:sp>
      <p:sp>
        <p:nvSpPr>
          <p:cNvPr id="12" name="rfq-block">
            <a:extLst xmlns:a="http://schemas.openxmlformats.org/drawingml/2006/main">
              <a:ext uri="{FF2B5EF4-FFF2-40B4-BE49-F238E27FC236}">
                <a16:creationId xmlns:a16="http://schemas.microsoft.com/office/drawing/2014/main" id="{F708605C-005D-41FE-BF57-0CA9DE71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047750"/>
            <a:ext cx="3714750" cy="4476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716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C4214-A2C8-413B-91AD-CD546BF2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4BC0C8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4BC0C8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2672E-7A6A-42E5-9F93-43AA793E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5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 el proveedor responde</a:t>
            </a:r>
          </a:p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cada línea con evidencia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390C38B5-DD1F-45E6-A20B-9EA967EF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64531-9061-4F38-B21F-DA656019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3A3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3A333"/>
                </a:solidFill>
                <a:latin typeface="Arial"/>
                <a:ea typeface="Arial"/>
                <a:cs typeface="Arial"/>
              </a:rPr>
              <a:t>NO-GO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67E24-4779-4FDB-9F39-7CD14104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101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DCE7E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ED"/>
                </a:solidFill>
                <a:latin typeface="Arial"/>
                <a:ea typeface="Arial"/>
                <a:cs typeface="Arial"/>
              </a:rPr>
              <a:t>ante claims sin método de ensayo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65BA3-FE95-4142-8E4F-F79A9DFF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17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2717C"/>
                </a:solidFill>
                <a:latin typeface="Arial"/>
                <a:ea typeface="Arial"/>
                <a:cs typeface="Arial"/>
              </a:rPr>
              <a:t>Anexo A del anteproyecto: RFQ bilingüe completo</a:t>
            </a:r>
          </a:p>
        </p:txBody>
      </p:sp>
    </p:spTree>
    <p:extLst>
      <p:ext uri="{BB962C8B-B14F-4D97-AF65-F5344CB8AC3E}">
        <p14:creationId xmlns:p14="http://schemas.microsoft.com/office/powerpoint/2010/main" val="1610307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2026-08-13T15:21:39.7140000Z</dcterms:created>
  <dcterms:modified xsi:type="dcterms:W3CDTF">2026-08-13T15:21:39.7140000Z</dcterms:modified>
</coreProperties>
</file>